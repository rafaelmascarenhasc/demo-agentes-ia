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9" r:id="rId11"/>
    <p:sldId id="261" r:id="rId13"/>
    <p:sldId id="276" r:id="rId25"/>
    <p:sldId id="282" r:id="rId30"/>
    <p:sldId id="275" r:id="rId24"/>
    <p:sldId id="286" r:id="rId34"/>
    <p:sldId id="287" r:id="rId35"/>
    <p:sldId id="288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(2 min). Arco do zero (júnior) ao avançado (sênior). Prometer exemplos reais do nosso código. Perguntar rápido quem já usa Claude Code no dia a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Não é mais completar código; é delegar uma unidade de trabalho. Nosso papel migra de 'digitar' para 'especificar, revisar e decidir'.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min. Este slide é pro leigo total. Ponto-chave sem jargão: o LLM prevê texto muito bem; não é um oráculo. É por isso que as disciplinas de verificação (mais à frente) existem. Evitar termos como 'transformer'/'rede neural' — foco na intuição.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Coração da palestra. Público não conhece skills. Do 'o que é' até 'o que cada uma faz', riscos e boas práticas.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Sacada: em vez de repetir 'rode os testes no Docker, não use pytest puro' em todo prompt, isso vira uma skill que o agente aplica sozinho, igual pra todo mundo do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Esta é a explicação sem jargão de 'carregamento sob demanda'. A analogia da estante resolve: ele vê os títulos (descrições), e só abre o manual (carrega o conteúdo todo) quando precisa. É o que deixa o sistema escalável — muitas skills, contexto enxuto.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2-3 min. Resolve a dúvida comum. Skill é a unidade (uma habilidade). Plugin empacota várias (o superpowers é um plugin). Marketplace é a loja de onde vêm os plugins. A analogia app / pacote de apps / loja de apps funciona pra todo mundo.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Instalar é trivial: um comando de marketplace. O superpowers é um PLUGIN de skills instalado pra todo o time — padronização instantânea.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min. Estas 3 são 'leis de ferro' — escritas pra o agente NÃO conseguir racionalizar e pular. Elas transformam boas práticas humanas em comportamento imposto. Mensagem: menos 'confia em mim', mais evidência.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min. Cada fase é uma skill. Em linguagem simples: pensar → planejar → construir → revisar → entregar. É exatamente o pipeline do superpowers, que detalho já já.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Formato prompt -&gt; o que acontece. A ideia: a skill dispara SOZINHA a partir de um prompt comum e muda o comportamento do agente (testar antes, investigar a causa, revisar de verdade). Sem jargão interno — qualquer um entende o 'antes/depois' do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Desmistificar pro leigo: não é 'programar' — é escrever um bom manual, como um README pra um colega novo. O campo 'description' (quando usar) é o mais importante: descrição ruim = a skill nunca dispara ou dispara errado. Dicas: uma skill = um propósito; teste a skill; e dá pra pedir pro próprio Claude te ajudar a escrever (existe até uma meta-skill 'writing-skills'). Este exemplo é real: viraria skill a regra que já usamos no time (testes no Docker).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Segurança: uma skill é instrução executável de confiança. O obra (superpowers) chama skill de 'a própria definição de prompt injection... do bem'. Trate skill de terceiro como dependência: leia, fixe versão, revise. Especialmente relevante pra nós (dados de saúde).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Recado central: o valor do dev sobe na cadeia — de executor para especificador/revisor/decisor. Você descreve o objetivo e decide; o agente implementa, testa e documenta.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min. Não é skill solta — é uma máquina de estados de SDLC sobre os primitivos do Claude Code. Mostrar que já é realidade no time (não é teoria).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min. A joia: revisores HOSTIS nos pontos onde o LLM se auto-engana. 'O autor é o pior juiz do próprio trabalho' — então põe um segundo agente com incentivo oposto. Foi esse tipo de revisão que pegou o 'bug que não era bug'.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Resumo: de 'IA que ajuda a codar' para 'um SDLC opinativo, auditável e repetível' — o humano vira aprovador dos gates, não microgerente de cada passo.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Contextualizar: o superpowers (Jesse Vincent / obra) popularizou 'skills como disciplina de engenharia' — skills, plugin e o pipeline design → plano → review. NÃO citar número exato de stars (não confirmado).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Ponto de segurança pedido: o agente tem acesso à SUA máquina com as suas permissões — é o preço de ser útil (precisa rodar comando, mexer em arquivo). O risco cresce em modo autônomo (sem confirmação). Defesa em camadas: revisar o diff, backup, sandbox. Crítico pra dados de saúde. Prepara o ai-jail como a solução no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Liderar com o que ELE É: um cercado/sandbox de segurança. Analogia do cercadinho + exemplo palpável (deixar o Claude Code refatorar sozinho: com ou sem cerca). Só no fim, o contraste: não é agente, é a cerca em volta. Usa-se junto: 'ai-jail claude'.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Quando/por quê: autonomia sem medo. O estrago (se houver) fica contido. Como: 'ai-jail claude' + flags (--mask esconde .env, --lockdown corta rede). Não substitui backup. Para nós (dados de saúde) é especialmente relevante.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Síntese pro sênior: não competem, se empilham. Base (Claude Code) + padronização (skills) + método (superpowers) + segurança (ai-jail).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Fechamento de ideia: velocidade sem abrir mão de julgamento. IA não substitui ceticismo nem responsabilidade. É o que separa 'usar IA' de 'usar IA bem'.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Slide de boas práticas de mercado. Recomendado (verde) x Evite (âmbar). Fecha a ideia de 'usar IA bem': plano antes de codar, passos pequenos, revisar diff, padronizar com skills, isolar execução. Erros clássicos: vibe coding, acesso total sem sandbox, segredos no contexto, confiar sem evidência, instalar skill de terceiro sem revisar.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Ações concretas — mostra visão de liderança técnica (importante pra promoção). Terminar convidando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Rafael Dias · Squad Backoffice &amp; Importação · iClinic/Afya.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bar 3"/>
          <p:cNvSpPr/>
          <p:nvPr/>
        </p:nvSpPr>
        <p:spPr>
          <a:xfrm>
            <a:off x="660000" y="1760000"/>
            <a:ext cx="560000" cy="46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4" name="txt 4"/>
          <p:cNvSpPr txBox="1"/>
          <p:nvPr/>
        </p:nvSpPr>
        <p:spPr>
          <a:xfrm>
            <a:off x="655000" y="1980000"/>
            <a:ext cx="108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300" b="1" i="0" spc="240">
                <a:solidFill>
                  <a:srgbClr val="C6FF3C"/>
                </a:solidFill>
                <a:latin typeface="DejaVu Sans Mono"/>
              </a:rPr>
              <a:t>IA NO DESENVOLVIMENTO DE SOFTWARE</a:t>
            </a:r>
          </a:p>
        </p:txBody>
      </p:sp>
      <p:sp>
        <p:nvSpPr>
          <p:cNvPr id="5" name="txt 5"/>
          <p:cNvSpPr txBox="1"/>
          <p:nvPr/>
        </p:nvSpPr>
        <p:spPr>
          <a:xfrm>
            <a:off x="650000" y="2380000"/>
            <a:ext cx="10900000" cy="15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4600" b="1" i="0">
                <a:solidFill>
                  <a:srgbClr val="F2F2F2"/>
                </a:solidFill>
                <a:latin typeface="Lato Light"/>
              </a:rPr>
              <a:t>Agentes de IA no nosso dia a dia</a:t>
            </a:r>
          </a:p>
        </p:txBody>
      </p:sp>
      <p:sp>
        <p:nvSpPr>
          <p:cNvPr id="6" name="txt 6"/>
          <p:cNvSpPr txBox="1"/>
          <p:nvPr/>
        </p:nvSpPr>
        <p:spPr>
          <a:xfrm>
            <a:off x="660000" y="3760000"/>
            <a:ext cx="106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900" b="0" i="0">
                <a:solidFill>
                  <a:srgbClr val="9A9A9A"/>
                </a:solidFill>
                <a:latin typeface="Lato"/>
              </a:rPr>
              <a:t>Como o Claude Code e o superpowers mudam a forma de programar</a:t>
            </a:r>
          </a:p>
        </p:txBody>
      </p:sp>
      <p:sp>
        <p:nvSpPr>
          <p:cNvPr id="7" name="rule 7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8" name="txt 8"/>
          <p:cNvSpPr txBox="1"/>
          <p:nvPr/>
        </p:nvSpPr>
        <p:spPr>
          <a:xfrm>
            <a:off x="660000" y="6000000"/>
            <a:ext cx="110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150" b="0" i="0">
                <a:solidFill>
                  <a:srgbClr val="6A6A6A"/>
                </a:solidFill>
                <a:latin typeface="DejaVu Sans Mono"/>
              </a:rPr>
              <a:t>Rafael Dias · Desenvolvedor Backend · Squad Backoffice &amp; Importação · iClinic / Afya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AGENDA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O que vamos ver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txt 6"/>
          <p:cNvSpPr txBox="1"/>
          <p:nvPr/>
        </p:nvSpPr>
        <p:spPr>
          <a:xfrm>
            <a:off x="700000" y="1820000"/>
            <a:ext cx="10900000" cy="45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Fundamentos: o que É um agente de IA (e por que não é autocomplete)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Skills: o conceito que muda tudo — o que são, como instalar, o que cada uma faz, riscos e boas práticas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Claude Code por dentro e o impacto no DevEx do time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Frameworks: superpowers e ai-jail</a:t>
            </a:r>
          </a:p>
        </p:txBody>
      </p:sp>
      <p:sp>
        <p:nvSpPr>
          <p:cNvPr id="7" name="rule 7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8" name="txt 8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9" name="txt 9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qbar 3"/>
          <p:cNvSpPr/>
          <p:nvPr/>
        </p:nvSpPr>
        <p:spPr>
          <a:xfrm>
            <a:off x="700000" y="2050000"/>
            <a:ext cx="46000" cy="2650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4" name="txt 4"/>
          <p:cNvSpPr txBox="1"/>
          <p:nvPr/>
        </p:nvSpPr>
        <p:spPr>
          <a:xfrm>
            <a:off x="1000000" y="2150000"/>
            <a:ext cx="10400000" cy="26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1400"/>
              </a:spcAft>
            </a:pPr>
            <a:r>
              <a:rPr sz="2700" b="0" i="0">
                <a:solidFill>
                  <a:srgbClr val="F2F2F2"/>
                </a:solidFill>
                <a:latin typeface="Lato Light"/>
              </a:rPr>
              <a:t>O modelo deixou de sugerir a próxima linha. Agora ele planeja, executa, roda os testes e revisa o próprio trabalho.</a:t>
            </a:r>
          </a:p>
          <a:p>
            <a:pPr marL="0" indent="0" algn="l">
              <a:spcAft>
                <a:spcPts val="0"/>
              </a:spcAft>
            </a:pPr>
            <a:r>
              <a:rPr sz="1900" b="1" i="0">
                <a:solidFill>
                  <a:srgbClr val="C6FF3C"/>
                </a:solidFill>
                <a:latin typeface="Lato"/>
              </a:rPr>
              <a:t>A diferença entre 'autocomplete' e 'agente' é um loop com ferramentas — e é isso que muda o nosso papel.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FUNDAMENTOS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Primeiro: o que é um LLM?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txt 6"/>
          <p:cNvSpPr txBox="1"/>
          <p:nvPr/>
        </p:nvSpPr>
        <p:spPr>
          <a:xfrm>
            <a:off x="700000" y="1820000"/>
            <a:ext cx="10900000" cy="45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LLM = 'Large Language Model' (modelo de linguagem) — o motor por trás do ChatGPT e do Claude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Foi treinado lendo uma quantidade gigantesca de texto: código, documentação, livros, a internet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Na essência ele faz UMA coisa: dado um texto, prevê a continuação mais provável</a:t>
            </a:r>
          </a:p>
          <a:p>
            <a:pPr marL="560000" indent="0" algn="l">
              <a:spcAft>
                <a:spcPts val="560"/>
              </a:spcAft>
            </a:pPr>
            <a:r>
              <a:rPr sz="13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300" b="0" i="0">
                <a:solidFill>
                  <a:srgbClr val="9A9A9A"/>
                </a:solidFill>
                <a:latin typeface="Lato"/>
              </a:rPr>
              <a:t>É um 'autocompletar' turbinado — não tem uma tabela de verdades absolutas guardada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Por isso às vezes erra com confiança (a famosa 'alucinação') → verificar é essencial</a:t>
            </a:r>
          </a:p>
          <a:p>
            <a:pPr marL="560000" indent="0" algn="l">
              <a:spcAft>
                <a:spcPts val="560"/>
              </a:spcAft>
            </a:pPr>
            <a:r>
              <a:rPr sz="13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300" b="0" i="0">
                <a:solidFill>
                  <a:srgbClr val="9A9A9A"/>
                </a:solidFill>
                <a:latin typeface="Lato"/>
              </a:rPr>
              <a:t>Analogia: um colega que leu quase tudo e responde na hora — brilhante, mas você confere antes de confiar</a:t>
            </a:r>
          </a:p>
        </p:txBody>
      </p:sp>
      <p:sp>
        <p:nvSpPr>
          <p:cNvPr id="7" name="rule 7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8" name="txt 8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9" name="txt 9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200000" y="1050000"/>
            <a:ext cx="5600000" cy="36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12000" b="1" i="0">
                <a:solidFill>
                  <a:srgbClr val="17181B"/>
                </a:solidFill>
                <a:latin typeface="Lato"/>
              </a:rPr>
              <a:t>01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2350000"/>
            <a:ext cx="106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300" b="1" i="0" spc="240">
                <a:solidFill>
                  <a:srgbClr val="C6FF3C"/>
                </a:solidFill>
                <a:latin typeface="DejaVu Sans Mono"/>
              </a:rPr>
              <a:t>PARTE 01</a:t>
            </a:r>
          </a:p>
        </p:txBody>
      </p:sp>
      <p:sp>
        <p:nvSpPr>
          <p:cNvPr id="5" name="txt 5"/>
          <p:cNvSpPr txBox="1"/>
          <p:nvPr/>
        </p:nvSpPr>
        <p:spPr>
          <a:xfrm>
            <a:off x="640080" y="2720000"/>
            <a:ext cx="108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4300" b="1" i="0">
                <a:solidFill>
                  <a:srgbClr val="F2F2F2"/>
                </a:solidFill>
                <a:latin typeface="Lato"/>
              </a:rPr>
              <a:t>Skills</a:t>
            </a:r>
          </a:p>
        </p:txBody>
      </p:sp>
      <p:sp>
        <p:nvSpPr>
          <p:cNvPr id="6" name="ul 6"/>
          <p:cNvSpPr/>
          <p:nvPr/>
        </p:nvSpPr>
        <p:spPr>
          <a:xfrm>
            <a:off x="658368" y="4020000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7" name="txt 7"/>
          <p:cNvSpPr txBox="1"/>
          <p:nvPr/>
        </p:nvSpPr>
        <p:spPr>
          <a:xfrm>
            <a:off x="640080" y="4230000"/>
            <a:ext cx="96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650" b="0" i="0">
                <a:solidFill>
                  <a:srgbClr val="9A9A9A"/>
                </a:solidFill>
                <a:latin typeface="Lato"/>
              </a:rPr>
              <a:t>O jeito de ENSINAR o agente a trabalhar do jeito certo — de forma reutilizável.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SKILLS · CONCEITO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O que é uma Skill?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txt 6"/>
          <p:cNvSpPr txBox="1"/>
          <p:nvPr/>
        </p:nvSpPr>
        <p:spPr>
          <a:xfrm>
            <a:off x="700000" y="1820000"/>
            <a:ext cx="10900000" cy="45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Um pacote de instruções que ensina o agente a fazer UMA tarefa bem</a:t>
            </a:r>
          </a:p>
          <a:p>
            <a:pPr marL="560000" indent="0" algn="l">
              <a:spcAft>
                <a:spcPts val="560"/>
              </a:spcAft>
            </a:pPr>
            <a:r>
              <a:rPr sz="14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400" b="0" i="0">
                <a:solidFill>
                  <a:srgbClr val="9A9A9A"/>
                </a:solidFill>
                <a:latin typeface="Lato"/>
              </a:rPr>
              <a:t>Na prática: um arquivo de texto (SKILL.md) com um nome, um 'quando usar' e um passo a passo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'Prompt solto' = a instrução que você digita na hora e some quando a conversa acaba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A skill é o oposto: o manual escrito UMA vez — versionado, reaproveitável e igual pro time todo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Sempre consistente: o agente segue o jeito certo combinado, não o improviso do dia</a:t>
            </a:r>
          </a:p>
        </p:txBody>
      </p:sp>
      <p:sp>
        <p:nvSpPr>
          <p:cNvPr id="7" name="rule 7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8" name="txt 8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9" name="txt 9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SKILLS · CONCEITO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Como a skill entra em ação (a estante de manuais)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txt 6"/>
          <p:cNvSpPr txBox="1"/>
          <p:nvPr/>
        </p:nvSpPr>
        <p:spPr>
          <a:xfrm>
            <a:off x="700000" y="1820000"/>
            <a:ext cx="10900000" cy="45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Imagine uma estante: cada skill é um manual, e na lombada tem só o título + 'quando usar'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O agente enxerga só essas lombadas — é leve, cabem muitas skills ao mesmo tempo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Quando a sua tarefa casa com um título, ele TIRA aquele manual e lê por completo</a:t>
            </a:r>
          </a:p>
          <a:p>
            <a:pPr marL="560000" indent="0" algn="l">
              <a:spcAft>
                <a:spcPts val="560"/>
              </a:spcAft>
            </a:pPr>
            <a:r>
              <a:rPr sz="13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300" b="0" i="0">
                <a:solidFill>
                  <a:srgbClr val="9A9A9A"/>
                </a:solidFill>
                <a:latin typeface="Lato"/>
              </a:rPr>
              <a:t>Só nesse momento o passo a passo inteiro entra na 'memória de trabalho' dele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Resultado: dá pra ter dezenas de skills instaladas sem sobrecarregar nem confundir o agente</a:t>
            </a:r>
          </a:p>
          <a:p>
            <a:pPr marL="560000" indent="0" algn="l">
              <a:spcAft>
                <a:spcPts val="560"/>
              </a:spcAft>
            </a:pPr>
            <a:r>
              <a:rPr sz="13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300" b="0" i="0">
                <a:solidFill>
                  <a:srgbClr val="9A9A9A"/>
                </a:solidFill>
                <a:latin typeface="Lato"/>
              </a:rPr>
              <a:t>Por isso a 'description' (o 'quando usar') é tão importante: é a lombada que faz ele achar o manual certo</a:t>
            </a:r>
          </a:p>
        </p:txBody>
      </p:sp>
      <p:sp>
        <p:nvSpPr>
          <p:cNvPr id="7" name="rule 7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8" name="txt 8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9" name="txt 9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SKILLS · CONCEITO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Skill × Plugin × Marketplace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txt 6"/>
          <p:cNvSpPr txBox="1"/>
          <p:nvPr/>
        </p:nvSpPr>
        <p:spPr>
          <a:xfrm>
            <a:off x="700000" y="1820000"/>
            <a:ext cx="10900000" cy="45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Skill = uma habilidade / um manual para UMA tarefa (ex.: 'rodar os testes no Docker')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Plugin = uma caixa que junta VÁRIAS skills (+ agentes e comandos) num pacote</a:t>
            </a:r>
          </a:p>
          <a:p>
            <a:pPr marL="560000" indent="0" algn="l">
              <a:spcAft>
                <a:spcPts val="560"/>
              </a:spcAft>
            </a:pPr>
            <a:r>
              <a:rPr sz="14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400" b="0" i="0">
                <a:solidFill>
                  <a:srgbClr val="9A9A9A"/>
                </a:solidFill>
                <a:latin typeface="Lato"/>
              </a:rPr>
              <a:t>O superpowers é um plugin: dentro dele vêm várias skills prontas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Marketplace = a 'loja' de onde você instala plugins (como uma App Store)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Analogia: skill = um app · plugin = um pacote de apps · marketplace = a loja</a:t>
            </a:r>
          </a:p>
        </p:txBody>
      </p:sp>
      <p:sp>
        <p:nvSpPr>
          <p:cNvPr id="7" name="rule 7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8" name="txt 8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9" name="txt 9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SKILLS · USO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Como se instala e como se usa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card 6"/>
          <p:cNvSpPr/>
          <p:nvPr/>
        </p:nvSpPr>
        <p:spPr>
          <a:xfrm>
            <a:off x="685800" y="1800000"/>
            <a:ext cx="5230000" cy="4470000"/>
          </a:xfrm>
          <a:prstGeom prst="roundRect">
            <a:avLst/>
          </a:prstGeom>
          <a:solidFill>
            <a:srgbClr val="141517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7" name="txt 7"/>
          <p:cNvSpPr txBox="1"/>
          <p:nvPr/>
        </p:nvSpPr>
        <p:spPr>
          <a:xfrm>
            <a:off x="985800" y="1990000"/>
            <a:ext cx="465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850" b="1" i="0">
                <a:solidFill>
                  <a:srgbClr val="C6FF3C"/>
                </a:solidFill>
                <a:latin typeface="Lato"/>
              </a:rPr>
              <a:t>Onde vivem / instalação</a:t>
            </a:r>
          </a:p>
        </p:txBody>
      </p:sp>
      <p:sp>
        <p:nvSpPr>
          <p:cNvPr id="8" name="txt 8"/>
          <p:cNvSpPr txBox="1"/>
          <p:nvPr/>
        </p:nvSpPr>
        <p:spPr>
          <a:xfrm>
            <a:off x="985800" y="2560000"/>
            <a:ext cx="4650000" cy="355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Pessoal: ~/.claude/skills/ (só suas)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Projeto: .claude/skills/ (no repo, valem pro time)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Plugin/marketplace: /plugin marketplace add + /plugin install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Uma skill = uma pasta com SKILL.md (+ arquivos de apoio)</a:t>
            </a:r>
          </a:p>
        </p:txBody>
      </p:sp>
      <p:sp>
        <p:nvSpPr>
          <p:cNvPr id="9" name="card 9"/>
          <p:cNvSpPr/>
          <p:nvPr/>
        </p:nvSpPr>
        <p:spPr>
          <a:xfrm>
            <a:off x="6270000" y="1800000"/>
            <a:ext cx="5230000" cy="4470000"/>
          </a:xfrm>
          <a:prstGeom prst="roundRect">
            <a:avLst/>
          </a:prstGeom>
          <a:solidFill>
            <a:srgbClr val="141517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10" name="txt 10"/>
          <p:cNvSpPr txBox="1"/>
          <p:nvPr/>
        </p:nvSpPr>
        <p:spPr>
          <a:xfrm>
            <a:off x="6570000" y="1990000"/>
            <a:ext cx="465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850" b="1" i="0">
                <a:solidFill>
                  <a:srgbClr val="F2C400"/>
                </a:solidFill>
                <a:latin typeface="Lato"/>
              </a:rPr>
              <a:t>Como é acionada</a:t>
            </a:r>
          </a:p>
        </p:txBody>
      </p:sp>
      <p:sp>
        <p:nvSpPr>
          <p:cNvPr id="11" name="txt 11"/>
          <p:cNvSpPr txBox="1"/>
          <p:nvPr/>
        </p:nvSpPr>
        <p:spPr>
          <a:xfrm>
            <a:off x="6570000" y="2560000"/>
            <a:ext cx="4650000" cy="355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Automático: o agente lê a 'description' e invoca quando a tarefa casa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Manual: você digita /nome-da-skill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Algumas rodam dentro de um subagente (contexto isolado)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As skills disparam sozinhas: brainstorming → writing-plans → code review</a:t>
            </a:r>
          </a:p>
        </p:txBody>
      </p:sp>
      <p:sp>
        <p:nvSpPr>
          <p:cNvPr id="12" name="rule 12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13" name="txt 13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14" name="txt 14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SKILLS · DISCIPLINAS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As skills de DISCIPLINA — o que cada uma faz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txt 6"/>
          <p:cNvSpPr txBox="1"/>
          <p:nvPr/>
        </p:nvSpPr>
        <p:spPr>
          <a:xfrm>
            <a:off x="700000" y="1820000"/>
            <a:ext cx="10900000" cy="45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test-driven-development: escreva o teste que FALHA antes do código</a:t>
            </a:r>
          </a:p>
          <a:p>
            <a:pPr marL="560000" indent="0" algn="l">
              <a:spcAft>
                <a:spcPts val="560"/>
              </a:spcAft>
            </a:pPr>
            <a:r>
              <a:rPr sz="13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300" b="0" i="0">
                <a:solidFill>
                  <a:srgbClr val="9A9A9A"/>
                </a:solidFill>
                <a:latin typeface="Lato"/>
              </a:rPr>
              <a:t>Definir o critério de aprovação da prova antes de fazer a prova. Ex.: teste de valor semestral/anual antes de mexer no cálculo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systematic-debugging: ache a causa-raiz antes de sair remendando</a:t>
            </a:r>
          </a:p>
          <a:p>
            <a:pPr marL="560000" indent="0" algn="l">
              <a:spcAft>
                <a:spcPts val="560"/>
              </a:spcAft>
            </a:pPr>
            <a:r>
              <a:rPr sz="13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300" b="0" i="0">
                <a:solidFill>
                  <a:srgbClr val="9A9A9A"/>
                </a:solidFill>
                <a:latin typeface="Lato"/>
              </a:rPr>
              <a:t>Regra marcante: se 3 tentativas falharam, o problema é a arquitetura — pare de remendar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verification-before-completion: proibido dizer 'pronto' sem evidência fresca</a:t>
            </a:r>
          </a:p>
          <a:p>
            <a:pPr marL="560000" indent="0" algn="l">
              <a:spcAft>
                <a:spcPts val="560"/>
              </a:spcAft>
            </a:pPr>
            <a:r>
              <a:rPr sz="13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300" b="0" i="0">
                <a:solidFill>
                  <a:srgbClr val="9A9A9A"/>
                </a:solidFill>
                <a:latin typeface="Lato"/>
              </a:rPr>
              <a:t>'Afirmar sem verificar é desonestidade, não eficiência.' Ex.: colar o 'Ran 6 tests... OK'</a:t>
            </a:r>
          </a:p>
        </p:txBody>
      </p:sp>
      <p:sp>
        <p:nvSpPr>
          <p:cNvPr id="7" name="rule 7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8" name="txt 8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9" name="txt 9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SKILLS · PROCESSO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As skills de PROCESSO — o ciclo de uma feature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txt 6"/>
          <p:cNvSpPr txBox="1"/>
          <p:nvPr/>
        </p:nvSpPr>
        <p:spPr>
          <a:xfrm>
            <a:off x="700000" y="1820000"/>
            <a:ext cx="10900000" cy="45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design: entender e validar O QUÊ antes do COMO (com um revisor que ataca os requisitos)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writing-plans: quebrar em tarefas pequenas, com arquivos e dependências, pra quem não tem contexto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subagent-driven-development: vários subagentes implementam em paralelo; o orquestrador junta e commita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reviewing: dois revisores — 1º confere se bate com a spec, 2º a qualidade; só passa se 'Approved'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completing: roda tudo, gera documentação viva e abre o PR</a:t>
            </a:r>
          </a:p>
        </p:txBody>
      </p:sp>
      <p:sp>
        <p:nvSpPr>
          <p:cNvPr id="7" name="rule 7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8" name="txt 8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9" name="txt 9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SKILLS · NA PRÁTICA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Skills na prática: o prompt e o que acontece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txt 6"/>
          <p:cNvSpPr txBox="1"/>
          <p:nvPr/>
        </p:nvSpPr>
        <p:spPr>
          <a:xfrm>
            <a:off x="700000" y="1820000"/>
            <a:ext cx="10900000" cy="45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Prompt: "crie o endpoint de resumo da assinatura"</a:t>
            </a:r>
          </a:p>
          <a:p>
            <a:pPr marL="560000" indent="0" algn="l">
              <a:spcAft>
                <a:spcPts val="560"/>
              </a:spcAft>
            </a:pPr>
            <a:r>
              <a:rPr sz="13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300" b="0" i="0">
                <a:solidFill>
                  <a:srgbClr val="9A9A9A"/>
                </a:solidFill>
                <a:latin typeface="Lato"/>
              </a:rPr>
              <a:t>A skill de TDD faz escrever o teste primeiro; a de verificação obriga a rodar tudo e mostrar 'OK' antes de dizer pronto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Prompt: "esse valor está saindo errado, investiga"</a:t>
            </a:r>
          </a:p>
          <a:p>
            <a:pPr marL="560000" indent="0" algn="l">
              <a:spcAft>
                <a:spcPts val="560"/>
              </a:spcAft>
            </a:pPr>
            <a:r>
              <a:rPr sz="13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300" b="0" i="0">
                <a:solidFill>
                  <a:srgbClr val="9A9A9A"/>
                </a:solidFill>
                <a:latin typeface="Lato"/>
              </a:rPr>
              <a:t>A skill de debugging força achar a causa-raiz antes de sair remendando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Prompt: "revisa esse código antes do PR"</a:t>
            </a:r>
          </a:p>
          <a:p>
            <a:pPr marL="560000" indent="0" algn="l">
              <a:spcAft>
                <a:spcPts val="560"/>
              </a:spcAft>
            </a:pPr>
            <a:r>
              <a:rPr sz="13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300" b="0" i="0">
                <a:solidFill>
                  <a:srgbClr val="9A9A9A"/>
                </a:solidFill>
                <a:latin typeface="Lato"/>
              </a:rPr>
              <a:t>Um revisor separa o que é crítico do que é detalhe — lendo o código, não confiando no relato</a:t>
            </a:r>
          </a:p>
        </p:txBody>
      </p:sp>
      <p:sp>
        <p:nvSpPr>
          <p:cNvPr id="7" name="rule 7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8" name="txt 8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9" name="txt 9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SKILLS · CRIAR A SUA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Como criar a SUA própria skill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code 6"/>
          <p:cNvSpPr/>
          <p:nvPr/>
        </p:nvSpPr>
        <p:spPr>
          <a:xfrm>
            <a:off x="685800" y="1800000"/>
            <a:ext cx="10835640" cy="3970000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tIns="228600" rIns="274320" bIns="45720"/>
          <a:lstStyle/>
          <a:p>
            <a:pPr marL="0" indent="0" algn="ctr">
              <a:spcAft>
                <a:spcPts val="180"/>
              </a:spcAft>
            </a:pPr>
            <a:r>
              <a:rPr sz="1300" b="0" i="0">
                <a:solidFill>
                  <a:srgbClr val="6A737D"/>
                </a:solidFill>
                <a:latin typeface="DejaVu Sans Mono"/>
              </a:rPr>
              <a:t># É só uma pasta com um arquivo de texto: SKILL.md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D6DEE7"/>
                </a:solidFill>
                <a:latin typeface="DejaVu Sans Mono"/>
              </a:rPr>
              <a:t> 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D6DEE7"/>
                </a:solidFill>
                <a:latin typeface="DejaVu Sans Mono"/>
              </a:rPr>
              <a:t>---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D6DEE7"/>
                </a:solidFill>
                <a:latin typeface="DejaVu Sans Mono"/>
              </a:rPr>
              <a:t>name: rodar-testes-iclinic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D6DEE7"/>
                </a:solidFill>
                <a:latin typeface="DejaVu Sans Mono"/>
              </a:rPr>
              <a:t>description: Use quando for rodar testes no iclinic-api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D6DEE7"/>
                </a:solidFill>
                <a:latin typeface="DejaVu Sans Mono"/>
              </a:rPr>
              <a:t>---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D6DEE7"/>
                </a:solidFill>
                <a:latin typeface="DejaVu Sans Mono"/>
              </a:rPr>
              <a:t> 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6A737D"/>
                </a:solidFill>
                <a:latin typeface="DejaVu Sans Mono"/>
              </a:rPr>
              <a:t># Como rodar os testes deste projeto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C6FF3C"/>
                </a:solidFill>
                <a:latin typeface="DejaVu Sans Mono"/>
              </a:rPr>
              <a:t>- Rode SEMPRE dentro do container Docker (nunca pytest puro).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C6FF3C"/>
                </a:solidFill>
                <a:latin typeface="DejaVu Sans Mono"/>
              </a:rPr>
              <a:t>- Comando: docker compose exec -T api su -c "... manage.py test ..."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C6FF3C"/>
                </a:solidFill>
                <a:latin typeface="DejaVu Sans Mono"/>
              </a:rPr>
              <a:t>- Só diga que passou depois de ver 'Ran N tests ... OK'.</a:t>
            </a:r>
          </a:p>
        </p:txBody>
      </p:sp>
      <p:sp>
        <p:nvSpPr>
          <p:cNvPr id="7" name="txt 7"/>
          <p:cNvSpPr txBox="1"/>
          <p:nvPr/>
        </p:nvSpPr>
        <p:spPr>
          <a:xfrm>
            <a:off x="713232" y="5900000"/>
            <a:ext cx="10835640" cy="5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300" b="0" i="1">
                <a:solidFill>
                  <a:srgbClr val="9A9A9A"/>
                </a:solidFill>
                <a:latin typeface="Lato"/>
              </a:rPr>
              <a:t>Skill pronta você INSTALA de um plugin; skill própria você ESCREVE — um cabeçalho (nome + 'quando usar') e um passo a passo.</a:t>
            </a:r>
          </a:p>
        </p:txBody>
      </p:sp>
      <p:sp>
        <p:nvSpPr>
          <p:cNvPr id="8" name="rule 8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9" name="txt 9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10" name="txt 10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SKILLS · SEGURANÇA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Skills: riscos × boas práticas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card 6"/>
          <p:cNvSpPr/>
          <p:nvPr/>
        </p:nvSpPr>
        <p:spPr>
          <a:xfrm>
            <a:off x="685800" y="1800000"/>
            <a:ext cx="5230000" cy="4470000"/>
          </a:xfrm>
          <a:prstGeom prst="roundRect">
            <a:avLst/>
          </a:prstGeom>
          <a:solidFill>
            <a:srgbClr val="141517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7" name="txt 7"/>
          <p:cNvSpPr txBox="1"/>
          <p:nvPr/>
        </p:nvSpPr>
        <p:spPr>
          <a:xfrm>
            <a:off x="985800" y="1990000"/>
            <a:ext cx="465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850" b="1" i="0">
                <a:solidFill>
                  <a:srgbClr val="C6FF3C"/>
                </a:solidFill>
                <a:latin typeface="Lato"/>
              </a:rPr>
              <a:t>Riscos (o que NÃO fazer)</a:t>
            </a:r>
          </a:p>
        </p:txBody>
      </p:sp>
      <p:sp>
        <p:nvSpPr>
          <p:cNvPr id="8" name="txt 8"/>
          <p:cNvSpPr txBox="1"/>
          <p:nvPr/>
        </p:nvSpPr>
        <p:spPr>
          <a:xfrm>
            <a:off x="985800" y="2560000"/>
            <a:ext cx="4650000" cy="355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Skill de terceiros sem ler: pode rodar comando malicioso (supply-chain / prompt injection)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Segredos dentro da skill (tokens, .env) — nunca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Skills 'faz-tudo' gigantes: viram ruído e disparam na hora errada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Instalar dezenas sem curadoria: inflam o contexto e confundem o agente</a:t>
            </a:r>
          </a:p>
        </p:txBody>
      </p:sp>
      <p:sp>
        <p:nvSpPr>
          <p:cNvPr id="9" name="card 9"/>
          <p:cNvSpPr/>
          <p:nvPr/>
        </p:nvSpPr>
        <p:spPr>
          <a:xfrm>
            <a:off x="6270000" y="1800000"/>
            <a:ext cx="5230000" cy="4470000"/>
          </a:xfrm>
          <a:prstGeom prst="roundRect">
            <a:avLst/>
          </a:prstGeom>
          <a:solidFill>
            <a:srgbClr val="141517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10" name="txt 10"/>
          <p:cNvSpPr txBox="1"/>
          <p:nvPr/>
        </p:nvSpPr>
        <p:spPr>
          <a:xfrm>
            <a:off x="6570000" y="1990000"/>
            <a:ext cx="465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850" b="1" i="0">
                <a:solidFill>
                  <a:srgbClr val="F2C400"/>
                </a:solidFill>
                <a:latin typeface="Lato"/>
              </a:rPr>
              <a:t>Boas práticas (o que fazer)</a:t>
            </a:r>
          </a:p>
        </p:txBody>
      </p:sp>
      <p:sp>
        <p:nvSpPr>
          <p:cNvPr id="11" name="txt 11"/>
          <p:cNvSpPr txBox="1"/>
          <p:nvPr/>
        </p:nvSpPr>
        <p:spPr>
          <a:xfrm>
            <a:off x="6570000" y="2560000"/>
            <a:ext cx="4650000" cy="355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Uma skill = um propósito; descrição clara de QUANDO usar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Revisar skill de terceiros antes de instalar (ela executa instruções!)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Versionar as skills do projeto no repo — padrão pro time todo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Preferir disciplinas comprovadas: TDD, review, verificação, debugging</a:t>
            </a:r>
          </a:p>
        </p:txBody>
      </p:sp>
      <p:sp>
        <p:nvSpPr>
          <p:cNvPr id="12" name="rule 12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13" name="txt 13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14" name="txt 14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200000" y="1050000"/>
            <a:ext cx="5600000" cy="36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12000" b="1" i="0">
                <a:solidFill>
                  <a:srgbClr val="17181B"/>
                </a:solidFill>
                <a:latin typeface="Lato"/>
              </a:rPr>
              <a:t>02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2350000"/>
            <a:ext cx="106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300" b="1" i="0" spc="240">
                <a:solidFill>
                  <a:srgbClr val="C6FF3C"/>
                </a:solidFill>
                <a:latin typeface="DejaVu Sans Mono"/>
              </a:rPr>
              <a:t>PARTE 02</a:t>
            </a:r>
          </a:p>
        </p:txBody>
      </p:sp>
      <p:sp>
        <p:nvSpPr>
          <p:cNvPr id="5" name="txt 5"/>
          <p:cNvSpPr txBox="1"/>
          <p:nvPr/>
        </p:nvSpPr>
        <p:spPr>
          <a:xfrm>
            <a:off x="640080" y="2720000"/>
            <a:ext cx="108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4300" b="1" i="0">
                <a:solidFill>
                  <a:srgbClr val="F2F2F2"/>
                </a:solidFill>
                <a:latin typeface="Lato"/>
              </a:rPr>
              <a:t>Claude Code &amp; DevEx</a:t>
            </a:r>
          </a:p>
        </p:txBody>
      </p:sp>
      <p:sp>
        <p:nvSpPr>
          <p:cNvPr id="6" name="ul 6"/>
          <p:cNvSpPr/>
          <p:nvPr/>
        </p:nvSpPr>
        <p:spPr>
          <a:xfrm>
            <a:off x="658368" y="4020000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7" name="txt 7"/>
          <p:cNvSpPr txBox="1"/>
          <p:nvPr/>
        </p:nvSpPr>
        <p:spPr>
          <a:xfrm>
            <a:off x="640080" y="4230000"/>
            <a:ext cx="96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650" b="0" i="0">
                <a:solidFill>
                  <a:srgbClr val="9A9A9A"/>
                </a:solidFill>
                <a:latin typeface="Lato"/>
              </a:rPr>
              <a:t>Os agentes de código (Claude Code, Cursor, Copilot...) e o que mudam no nosso fluxo.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CLAUDE CODE · DEVEX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DevEx: antes × depois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card 6"/>
          <p:cNvSpPr/>
          <p:nvPr/>
        </p:nvSpPr>
        <p:spPr>
          <a:xfrm>
            <a:off x="685800" y="1800000"/>
            <a:ext cx="5230000" cy="4470000"/>
          </a:xfrm>
          <a:prstGeom prst="roundRect">
            <a:avLst/>
          </a:prstGeom>
          <a:solidFill>
            <a:srgbClr val="141517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7" name="txt 7"/>
          <p:cNvSpPr txBox="1"/>
          <p:nvPr/>
        </p:nvSpPr>
        <p:spPr>
          <a:xfrm>
            <a:off x="985800" y="1990000"/>
            <a:ext cx="465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850" b="1" i="0">
                <a:solidFill>
                  <a:srgbClr val="C6FF3C"/>
                </a:solidFill>
                <a:latin typeface="Lato"/>
              </a:rPr>
              <a:t>Antes</a:t>
            </a:r>
          </a:p>
        </p:txBody>
      </p:sp>
      <p:sp>
        <p:nvSpPr>
          <p:cNvPr id="8" name="txt 8"/>
          <p:cNvSpPr txBox="1"/>
          <p:nvPr/>
        </p:nvSpPr>
        <p:spPr>
          <a:xfrm>
            <a:off x="985800" y="2560000"/>
            <a:ext cx="4650000" cy="355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Dev escreve cada linha e cada teste manualmente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Review 100% humano, gargalo no fim do ciclo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Padrão do time na cabeça de cada um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Tarefa repetitiva consome tempo de sênior</a:t>
            </a:r>
          </a:p>
        </p:txBody>
      </p:sp>
      <p:sp>
        <p:nvSpPr>
          <p:cNvPr id="9" name="card 9"/>
          <p:cNvSpPr/>
          <p:nvPr/>
        </p:nvSpPr>
        <p:spPr>
          <a:xfrm>
            <a:off x="6270000" y="1800000"/>
            <a:ext cx="5230000" cy="4470000"/>
          </a:xfrm>
          <a:prstGeom prst="roundRect">
            <a:avLst/>
          </a:prstGeom>
          <a:solidFill>
            <a:srgbClr val="141517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10" name="txt 10"/>
          <p:cNvSpPr txBox="1"/>
          <p:nvPr/>
        </p:nvSpPr>
        <p:spPr>
          <a:xfrm>
            <a:off x="6570000" y="1990000"/>
            <a:ext cx="465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850" b="1" i="0">
                <a:solidFill>
                  <a:srgbClr val="F2C400"/>
                </a:solidFill>
                <a:latin typeface="Lato"/>
              </a:rPr>
              <a:t>Depois (com agente + skills)</a:t>
            </a:r>
          </a:p>
        </p:txBody>
      </p:sp>
      <p:sp>
        <p:nvSpPr>
          <p:cNvPr id="11" name="txt 11"/>
          <p:cNvSpPr txBox="1"/>
          <p:nvPr/>
        </p:nvSpPr>
        <p:spPr>
          <a:xfrm>
            <a:off x="6570000" y="2560000"/>
            <a:ext cx="4650000" cy="355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Dev especifica, revisa e DECIDE; o agente faz o repetitivo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Revisão adversarial automática antes do humano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Padrão do time vira skill: consistente pra todos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Sênior foca em arquitetura e decisões difíceis</a:t>
            </a:r>
          </a:p>
        </p:txBody>
      </p:sp>
      <p:sp>
        <p:nvSpPr>
          <p:cNvPr id="12" name="rule 12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13" name="txt 13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14" name="txt 14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200000" y="1050000"/>
            <a:ext cx="5600000" cy="36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12000" b="1" i="0">
                <a:solidFill>
                  <a:srgbClr val="17181B"/>
                </a:solidFill>
                <a:latin typeface="Lato"/>
              </a:rPr>
              <a:t>▶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2350000"/>
            <a:ext cx="106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300" b="1" i="0" spc="240">
                <a:solidFill>
                  <a:srgbClr val="C6FF3C"/>
                </a:solidFill>
                <a:latin typeface="DejaVu Sans Mono"/>
              </a:rPr>
              <a:t>MÃO NA MASSA</a:t>
            </a:r>
          </a:p>
        </p:txBody>
      </p:sp>
      <p:sp>
        <p:nvSpPr>
          <p:cNvPr id="5" name="txt 5"/>
          <p:cNvSpPr txBox="1"/>
          <p:nvPr/>
        </p:nvSpPr>
        <p:spPr>
          <a:xfrm>
            <a:off x="640080" y="2720000"/>
            <a:ext cx="108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4300" b="1" i="0">
                <a:solidFill>
                  <a:srgbClr val="F2F2F2"/>
                </a:solidFill>
                <a:latin typeface="Lato"/>
              </a:rPr>
              <a:t>Hands-on: vamos ao VS Code</a:t>
            </a:r>
          </a:p>
        </p:txBody>
      </p:sp>
      <p:sp>
        <p:nvSpPr>
          <p:cNvPr id="6" name="ul 6"/>
          <p:cNvSpPr/>
          <p:nvPr/>
        </p:nvSpPr>
        <p:spPr>
          <a:xfrm>
            <a:off x="658368" y="4020000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7" name="txt 7"/>
          <p:cNvSpPr txBox="1"/>
          <p:nvPr/>
        </p:nvSpPr>
        <p:spPr>
          <a:xfrm>
            <a:off x="640080" y="4230000"/>
            <a:ext cx="96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650" b="0" i="0">
                <a:solidFill>
                  <a:srgbClr val="9A9A9A"/>
                </a:solidFill>
                <a:latin typeface="Lato"/>
              </a:rPr>
              <a:t>Três formas ao vivo: Claude Code “cru” → superpowers (processo) → ai-jail (sandbox).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ECOSSISTEMA · O NOSSO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superpowers: o pipeline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txt 6"/>
          <p:cNvSpPr txBox="1"/>
          <p:nvPr/>
        </p:nvSpPr>
        <p:spPr>
          <a:xfrm>
            <a:off x="700000" y="1820000"/>
            <a:ext cx="10900000" cy="45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'Workflow determinístico, com fases travadas, estado persistente e auditável'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5 fases: design → plan → implement → review → complete</a:t>
            </a:r>
          </a:p>
          <a:p>
            <a:pPr marL="560000" indent="0" algn="l">
              <a:spcAft>
                <a:spcPts val="560"/>
              </a:spcAft>
            </a:pPr>
            <a:r>
              <a:rPr sz="13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300" b="0" i="0">
                <a:solidFill>
                  <a:srgbClr val="9A9A9A"/>
                </a:solidFill>
                <a:latin typeface="Lato"/>
              </a:rPr>
              <a:t>O estado (design, plano) vive em disco: dá pra parar hoje e retomar semana que vem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Você é quem libera cada fase; antes de passar, uma checagem automática confirma que a etapa terminou de verdade</a:t>
            </a:r>
          </a:p>
          <a:p>
            <a:pPr marL="560000" indent="0" algn="l">
              <a:spcAft>
                <a:spcPts val="560"/>
              </a:spcAft>
            </a:pPr>
            <a:r>
              <a:rPr sz="13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300" b="0" i="0">
                <a:solidFill>
                  <a:srgbClr val="9A9A9A"/>
                </a:solidFill>
                <a:latin typeface="Lato"/>
              </a:rPr>
              <a:t>O agente nunca pula fase sozinho — nem 'isso é simples demais pra ter design'</a:t>
            </a:r>
          </a:p>
          <a:p>
            <a:pPr marL="560000" indent="0" algn="l">
              <a:spcAft>
                <a:spcPts val="560"/>
              </a:spcAft>
            </a:pPr>
            <a:r>
              <a:rPr sz="13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300" b="0" i="0">
                <a:solidFill>
                  <a:srgbClr val="9A9A9A"/>
                </a:solidFill>
                <a:latin typeface="Lato"/>
              </a:rPr>
              <a:t>O time já rodou dezenas de features reais com esse fluxo</a:t>
            </a:r>
          </a:p>
        </p:txBody>
      </p:sp>
      <p:sp>
        <p:nvSpPr>
          <p:cNvPr id="7" name="rule 7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8" name="txt 8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9" name="txt 9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ECOSSISTEMA · O NOSSO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superpowers: por que é robusto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card 6"/>
          <p:cNvSpPr/>
          <p:nvPr/>
        </p:nvSpPr>
        <p:spPr>
          <a:xfrm>
            <a:off x="685800" y="1800000"/>
            <a:ext cx="5230000" cy="4470000"/>
          </a:xfrm>
          <a:prstGeom prst="roundRect">
            <a:avLst/>
          </a:prstGeom>
          <a:solidFill>
            <a:srgbClr val="141517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7" name="txt 7"/>
          <p:cNvSpPr txBox="1"/>
          <p:nvPr/>
        </p:nvSpPr>
        <p:spPr>
          <a:xfrm>
            <a:off x="985800" y="1990000"/>
            <a:ext cx="465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850" b="1" i="0">
                <a:solidFill>
                  <a:srgbClr val="C6FF3C"/>
                </a:solidFill>
                <a:latin typeface="Lato"/>
              </a:rPr>
              <a:t>Execução paralela segura</a:t>
            </a:r>
          </a:p>
        </p:txBody>
      </p:sp>
      <p:sp>
        <p:nvSpPr>
          <p:cNvPr id="8" name="txt 8"/>
          <p:cNvSpPr txBox="1"/>
          <p:nvPr/>
        </p:nvSpPr>
        <p:spPr>
          <a:xfrm>
            <a:off x="985800" y="2560000"/>
            <a:ext cx="4650000" cy="355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Subagentes implementam em paralelo, em 'ondas', respeitando dependências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Eles NÃO commitam: o orquestrador commita 1 commit por tarefa, em ordem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Evita corrida no git e mistura de arquivos entre agentes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Modelo certo por tarefa (barato no mecânico, forte na arquitetura)</a:t>
            </a:r>
          </a:p>
        </p:txBody>
      </p:sp>
      <p:sp>
        <p:nvSpPr>
          <p:cNvPr id="9" name="card 9"/>
          <p:cNvSpPr/>
          <p:nvPr/>
        </p:nvSpPr>
        <p:spPr>
          <a:xfrm>
            <a:off x="6270000" y="1800000"/>
            <a:ext cx="5230000" cy="4470000"/>
          </a:xfrm>
          <a:prstGeom prst="roundRect">
            <a:avLst/>
          </a:prstGeom>
          <a:solidFill>
            <a:srgbClr val="141517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10" name="txt 10"/>
          <p:cNvSpPr txBox="1"/>
          <p:nvPr/>
        </p:nvSpPr>
        <p:spPr>
          <a:xfrm>
            <a:off x="6570000" y="1990000"/>
            <a:ext cx="465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850" b="1" i="0">
                <a:solidFill>
                  <a:srgbClr val="F2C400"/>
                </a:solidFill>
                <a:latin typeface="Lato"/>
              </a:rPr>
              <a:t>Revisores adversariais</a:t>
            </a:r>
          </a:p>
        </p:txBody>
      </p:sp>
      <p:sp>
        <p:nvSpPr>
          <p:cNvPr id="11" name="txt 11"/>
          <p:cNvSpPr txBox="1"/>
          <p:nvPr/>
        </p:nvSpPr>
        <p:spPr>
          <a:xfrm>
            <a:off x="6570000" y="2560000"/>
            <a:ext cx="4650000" cy="355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requirements-interrogator: ATACA os requisitos (contradições, lacunas, edge cases)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spec-reviewer: lê o código de verdade — não confia no relatório do implementador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code-quality-reviewer: Critical / Important / Minor; crítico trava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Loop de correção; só avança com veredicto 'Approved'</a:t>
            </a:r>
          </a:p>
        </p:txBody>
      </p:sp>
      <p:sp>
        <p:nvSpPr>
          <p:cNvPr id="12" name="rule 12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13" name="txt 13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14" name="txt 14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ECOSSISTEMA · O NOSSO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superpowers × Claude Code 'cru'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txt 6"/>
          <p:cNvSpPr txBox="1"/>
          <p:nvPr/>
        </p:nvSpPr>
        <p:spPr>
          <a:xfrm>
            <a:off x="700000" y="1820000"/>
            <a:ext cx="10900000" cy="45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Claude Code cru: você conversa, ele codifica, às vezes testa, e diz 'pronto'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superpowers transforma isso em PROCESSO de engenharia:</a:t>
            </a:r>
          </a:p>
          <a:p>
            <a:pPr marL="560000" indent="0" algn="l">
              <a:spcAft>
                <a:spcPts val="560"/>
              </a:spcAft>
            </a:pPr>
            <a:r>
              <a:rPr sz="13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300" b="0" i="0">
                <a:solidFill>
                  <a:srgbClr val="9A9A9A"/>
                </a:solidFill>
                <a:latin typeface="Lato"/>
              </a:rPr>
              <a:t>Gates travados por script + disciplinas não-negociáveis (TDD, verificação)</a:t>
            </a:r>
          </a:p>
          <a:p>
            <a:pPr marL="560000" indent="0" algn="l">
              <a:spcAft>
                <a:spcPts val="560"/>
              </a:spcAft>
            </a:pPr>
            <a:r>
              <a:rPr sz="13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300" b="0" i="0">
                <a:solidFill>
                  <a:srgbClr val="9A9A9A"/>
                </a:solidFill>
                <a:latin typeface="Lato"/>
              </a:rPr>
              <a:t>Estado retomável + trilha de auditoria por feature</a:t>
            </a:r>
          </a:p>
          <a:p>
            <a:pPr marL="560000" indent="0" algn="l">
              <a:spcAft>
                <a:spcPts val="560"/>
              </a:spcAft>
            </a:pPr>
            <a:r>
              <a:rPr sz="13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300" b="0" i="0">
                <a:solidFill>
                  <a:srgbClr val="9A9A9A"/>
                </a:solidFill>
                <a:latin typeface="Lato"/>
              </a:rPr>
              <a:t>Documentação viva automática em docs/ (em português)</a:t>
            </a:r>
          </a:p>
          <a:p>
            <a:pPr marL="560000" indent="0" algn="l">
              <a:spcAft>
                <a:spcPts val="560"/>
              </a:spcAft>
            </a:pPr>
            <a:r>
              <a:rPr sz="13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300" b="0" i="0">
                <a:solidFill>
                  <a:srgbClr val="9A9A9A"/>
                </a:solidFill>
                <a:latin typeface="Lato"/>
              </a:rPr>
              <a:t>Padronização: todo mundo produz o mesmo formato de design/plan/review/commit</a:t>
            </a:r>
          </a:p>
        </p:txBody>
      </p:sp>
      <p:sp>
        <p:nvSpPr>
          <p:cNvPr id="7" name="rule 7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8" name="txt 8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9" name="txt 9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ECOSSISTEMA · OPEN SOURCE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superpowers (obra / Jesse Vincent) — o DNA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txt 6"/>
          <p:cNvSpPr txBox="1"/>
          <p:nvPr/>
        </p:nvSpPr>
        <p:spPr>
          <a:xfrm>
            <a:off x="700000" y="1820000"/>
            <a:ext cx="10900000" cy="45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'Um framework de skills + metodologia de desenvolvimento que funciona'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Mesmo ciclo: brainstorm → plano → subagentes → TDD → review → finish</a:t>
            </a:r>
          </a:p>
          <a:p>
            <a:pPr marL="560000" indent="0" algn="l">
              <a:spcAft>
                <a:spcPts val="560"/>
              </a:spcAft>
            </a:pPr>
            <a:r>
              <a:rPr sz="14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400" b="0" i="0">
                <a:solidFill>
                  <a:srgbClr val="9A9A9A"/>
                </a:solidFill>
                <a:latin typeface="Lato"/>
              </a:rPr>
              <a:t>As mesmas skills de disciplina do superpowers</a:t>
            </a:r>
          </a:p>
          <a:p>
            <a:pPr marL="560000" indent="0" algn="l">
              <a:spcAft>
                <a:spcPts val="560"/>
              </a:spcAft>
            </a:pPr>
            <a:r>
              <a:rPr sz="14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400" b="0" i="0">
                <a:solidFill>
                  <a:srgbClr val="9A9A9A"/>
                </a:solidFill>
                <a:latin typeface="Lato"/>
              </a:rPr>
              <a:t>Open source, multiplataforma e um dos frameworks de agentes mais populares do GitHub</a:t>
            </a:r>
          </a:p>
          <a:p>
            <a:pPr marL="560000" indent="0" algn="l">
              <a:spcAft>
                <a:spcPts val="560"/>
              </a:spcAft>
            </a:pPr>
            <a:r>
              <a:rPr sz="14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400" b="0" i="0">
                <a:solidFill>
                  <a:srgbClr val="9A9A9A"/>
                </a:solidFill>
                <a:latin typeface="Lato"/>
              </a:rPr>
              <a:t>Frase do autor: 'Skills are what give your agents Superpowers'</a:t>
            </a:r>
          </a:p>
        </p:txBody>
      </p:sp>
      <p:sp>
        <p:nvSpPr>
          <p:cNvPr id="7" name="rule 7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8" name="txt 8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9" name="txt 9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ECOSSISTEMA · SEGURANÇA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Segurança: o agente roda na SUA máquina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txt 6"/>
          <p:cNvSpPr txBox="1"/>
          <p:nvPr/>
        </p:nvSpPr>
        <p:spPr>
          <a:xfrm>
            <a:off x="700000" y="1820000"/>
            <a:ext cx="10900000" cy="45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Pra ser útil, o agente executa comandos e edita arquivos com as SUAS permissões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Poderoso — mas, em tese, pode ler segredos, apagar arquivos ou acessar a rede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Modos 'autônomos' (sem pedir confirmação a cada passo) aumentam o risco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Defesa: revisar o que ele faz, ter backup e ISOLAR a execução em sandbox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Ainda mais crítico com dados sensíveis de saúde — o nosso caso</a:t>
            </a:r>
          </a:p>
          <a:p>
            <a:pPr marL="560000" indent="0" algn="l">
              <a:spcAft>
                <a:spcPts val="560"/>
              </a:spcAft>
            </a:pPr>
            <a:r>
              <a:rPr sz="13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300" b="0" i="0">
                <a:solidFill>
                  <a:srgbClr val="9A9A9A"/>
                </a:solidFill>
                <a:latin typeface="Lato"/>
              </a:rPr>
              <a:t>É exatamente esse problema que o ai-jail ataca →</a:t>
            </a:r>
          </a:p>
        </p:txBody>
      </p:sp>
      <p:sp>
        <p:nvSpPr>
          <p:cNvPr id="7" name="rule 7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8" name="txt 8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9" name="txt 9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ECOSSISTEMA · SEGURANÇA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ai-jail: o que é (a cerca de segurança do agente)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txt 6"/>
          <p:cNvSpPr txBox="1"/>
          <p:nvPr/>
        </p:nvSpPr>
        <p:spPr>
          <a:xfrm>
            <a:off x="700000" y="1820000"/>
            <a:ext cx="10900000" cy="45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ai-jail é um 'cercado de segurança': um espaço isolado onde o agente roda preso, sem acesso ao resto da máquina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Analogia: é como o cercadinho da criança — ela brinca à vontade lá dentro, mas não sai pra rua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Exemplo: você quer deixar o Claude Code refatorar sozinho. Sem ai-jail, ele vê TUDO (arquivos, senhas do .env, internet)</a:t>
            </a:r>
          </a:p>
          <a:p>
            <a:pPr marL="560000" indent="0" algn="l">
              <a:spcAft>
                <a:spcPts val="560"/>
              </a:spcAft>
            </a:pPr>
            <a:r>
              <a:rPr sz="13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300" b="0" i="0">
                <a:solidFill>
                  <a:srgbClr val="9A9A9A"/>
                </a:solidFill>
                <a:latin typeface="Lato"/>
              </a:rPr>
              <a:t>Com ai-jail você diz: 'só esta pasta, sem .env, sem internet' — e ele trabalha preso nesse cercado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Feito pelo Fabio Akita, roda no terminal e funciona com Claude Code, Cursor e outros</a:t>
            </a:r>
          </a:p>
          <a:p>
            <a:pPr marL="560000" indent="0" algn="l">
              <a:spcAft>
                <a:spcPts val="560"/>
              </a:spcAft>
            </a:pPr>
            <a:r>
              <a:rPr sz="13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300" b="0" i="0">
                <a:solidFill>
                  <a:srgbClr val="9A9A9A"/>
                </a:solidFill>
                <a:latin typeface="Lato"/>
              </a:rPr>
              <a:t>Ou seja: ele NÃO escreve código — é a cerca que fica EM VOLTA do agente</a:t>
            </a:r>
          </a:p>
        </p:txBody>
      </p:sp>
      <p:sp>
        <p:nvSpPr>
          <p:cNvPr id="7" name="rule 7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8" name="txt 8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9" name="txt 9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05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ECOSSISTEMA · SEGURANÇA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ai-jail: quando e por que usar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txt 6"/>
          <p:cNvSpPr txBox="1"/>
          <p:nvPr/>
        </p:nvSpPr>
        <p:spPr>
          <a:xfrm>
            <a:off x="700000" y="1820000"/>
            <a:ext cx="10900000" cy="45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Quando: pra deixar o agente rodar SOZINHO (modo autônomo, sem aprovar cada passo) sem medo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Por que: se algo der errado, o estrago fica preso na cerca — não vaza segredo nem apaga sua máquina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Na prática: você roda 'ai-jail claude' e escolhe o que liberar (--mask .env esconde segredos; --lockdown corta a rede)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Tese do autor: 'cerca no nível do sistema, não freio dentro do agente' — rápido por dentro, protegido por fora</a:t>
            </a:r>
          </a:p>
          <a:p>
            <a:pPr marL="560000" indent="0" algn="l">
              <a:spcAft>
                <a:spcPts val="560"/>
              </a:spcAft>
            </a:pPr>
            <a:r>
              <a:rPr sz="1400" b="0" i="0">
                <a:solidFill>
                  <a:srgbClr val="6A6A6A"/>
                </a:solidFill>
                <a:latin typeface="Lato"/>
              </a:rPr>
              <a:t>–  </a:t>
            </a:r>
            <a:r>
              <a:rPr sz="1400" b="0" i="0">
                <a:solidFill>
                  <a:srgbClr val="9A9A9A"/>
                </a:solidFill>
                <a:latin typeface="Lato"/>
              </a:rPr>
              <a:t>Honesto: 'não é 100% seguro, mas o suficiente' — backup continua essencial. Relevante pra dados de saúde</a:t>
            </a:r>
          </a:p>
        </p:txBody>
      </p:sp>
      <p:sp>
        <p:nvSpPr>
          <p:cNvPr id="7" name="rule 7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8" name="txt 8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9" name="txt 9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qbar 3"/>
          <p:cNvSpPr/>
          <p:nvPr/>
        </p:nvSpPr>
        <p:spPr>
          <a:xfrm>
            <a:off x="700000" y="2050000"/>
            <a:ext cx="46000" cy="2650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4" name="txt 4"/>
          <p:cNvSpPr txBox="1"/>
          <p:nvPr/>
        </p:nvSpPr>
        <p:spPr>
          <a:xfrm>
            <a:off x="1000000" y="2150000"/>
            <a:ext cx="10400000" cy="26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1400"/>
              </a:spcAft>
            </a:pPr>
            <a:r>
              <a:rPr sz="2700" b="0" i="0">
                <a:solidFill>
                  <a:srgbClr val="F2F2F2"/>
                </a:solidFill>
                <a:latin typeface="Lato Light"/>
              </a:rPr>
              <a:t>A IA acelera. O julgamento continua nosso.</a:t>
            </a:r>
          </a:p>
          <a:p>
            <a:pPr marL="0" indent="0" algn="l">
              <a:spcAft>
                <a:spcPts val="0"/>
              </a:spcAft>
            </a:pPr>
            <a:r>
              <a:rPr sz="1900" b="1" i="0">
                <a:solidFill>
                  <a:srgbClr val="C6FF3C"/>
                </a:solidFill>
                <a:latin typeface="Lato"/>
              </a:rPr>
              <a:t>O agente executa, testa e propõe — mas quem verifica as premissas, decide a arquitetura e assume a responsabilidade é a pessoa. Por isso as disciplinas (testar, verificar, revisar) são o que dá segurança.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FECHAMENTO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Boas práticas de mercado (2026)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card 6"/>
          <p:cNvSpPr/>
          <p:nvPr/>
        </p:nvSpPr>
        <p:spPr>
          <a:xfrm>
            <a:off x="685800" y="1800000"/>
            <a:ext cx="5230000" cy="4470000"/>
          </a:xfrm>
          <a:prstGeom prst="roundRect">
            <a:avLst/>
          </a:prstGeom>
          <a:solidFill>
            <a:srgbClr val="141517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7" name="txt 7"/>
          <p:cNvSpPr txBox="1"/>
          <p:nvPr/>
        </p:nvSpPr>
        <p:spPr>
          <a:xfrm>
            <a:off x="985800" y="1990000"/>
            <a:ext cx="465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850" b="1" i="0">
                <a:solidFill>
                  <a:srgbClr val="C6FF3C"/>
                </a:solidFill>
                <a:latin typeface="Lato"/>
              </a:rPr>
              <a:t>Recomendado</a:t>
            </a:r>
          </a:p>
        </p:txBody>
      </p:sp>
      <p:sp>
        <p:nvSpPr>
          <p:cNvPr id="8" name="txt 8"/>
          <p:cNvSpPr txBox="1"/>
          <p:nvPr/>
        </p:nvSpPr>
        <p:spPr>
          <a:xfrm>
            <a:off x="985800" y="2560000"/>
            <a:ext cx="4650000" cy="355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560"/>
              </a:spcAft>
            </a:pPr>
            <a:r>
              <a:rPr sz="133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330" b="0" i="0">
                <a:solidFill>
                  <a:srgbClr val="E8E8E8"/>
                </a:solidFill>
                <a:latin typeface="Lato"/>
              </a:rPr>
              <a:t>Peça um PLANO antes de deixar o agente codar (o design vem primeiro)</a:t>
            </a:r>
          </a:p>
          <a:p>
            <a:pPr marL="0" indent="0" algn="l">
              <a:spcAft>
                <a:spcPts val="560"/>
              </a:spcAft>
            </a:pPr>
            <a:r>
              <a:rPr sz="133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330" b="0" i="0">
                <a:solidFill>
                  <a:srgbClr val="E8E8E8"/>
                </a:solidFill>
                <a:latin typeface="Lato"/>
              </a:rPr>
              <a:t>Trabalhe em passos pequenos e verificáveis, com testes rodando</a:t>
            </a:r>
          </a:p>
          <a:p>
            <a:pPr marL="0" indent="0" algn="l">
              <a:spcAft>
                <a:spcPts val="560"/>
              </a:spcAft>
            </a:pPr>
            <a:r>
              <a:rPr sz="133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330" b="0" i="0">
                <a:solidFill>
                  <a:srgbClr val="E8E8E8"/>
                </a:solidFill>
                <a:latin typeface="Lato"/>
              </a:rPr>
              <a:t>Reveja o diff sempre — a responsabilidade pelo código é sua</a:t>
            </a:r>
          </a:p>
          <a:p>
            <a:pPr marL="0" indent="0" algn="l">
              <a:spcAft>
                <a:spcPts val="560"/>
              </a:spcAft>
            </a:pPr>
            <a:r>
              <a:rPr sz="133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330" b="0" i="0">
                <a:solidFill>
                  <a:srgbClr val="E8E8E8"/>
                </a:solidFill>
                <a:latin typeface="Lato"/>
              </a:rPr>
              <a:t>Padronize o time com skills versionadas no repositório</a:t>
            </a:r>
          </a:p>
          <a:p>
            <a:pPr marL="0" indent="0" algn="l">
              <a:spcAft>
                <a:spcPts val="560"/>
              </a:spcAft>
            </a:pPr>
            <a:r>
              <a:rPr sz="133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330" b="0" i="0">
                <a:solidFill>
                  <a:srgbClr val="E8E8E8"/>
                </a:solidFill>
                <a:latin typeface="Lato"/>
              </a:rPr>
              <a:t>Isole execuções autônomas em sandbox, ainda mais com dados sensíveis</a:t>
            </a:r>
          </a:p>
        </p:txBody>
      </p:sp>
      <p:sp>
        <p:nvSpPr>
          <p:cNvPr id="9" name="card 9"/>
          <p:cNvSpPr/>
          <p:nvPr/>
        </p:nvSpPr>
        <p:spPr>
          <a:xfrm>
            <a:off x="6270000" y="1800000"/>
            <a:ext cx="5230000" cy="4470000"/>
          </a:xfrm>
          <a:prstGeom prst="roundRect">
            <a:avLst/>
          </a:prstGeom>
          <a:solidFill>
            <a:srgbClr val="141517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10" name="txt 10"/>
          <p:cNvSpPr txBox="1"/>
          <p:nvPr/>
        </p:nvSpPr>
        <p:spPr>
          <a:xfrm>
            <a:off x="6570000" y="1990000"/>
            <a:ext cx="465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850" b="1" i="0">
                <a:solidFill>
                  <a:srgbClr val="F2C400"/>
                </a:solidFill>
                <a:latin typeface="Lato"/>
              </a:rPr>
              <a:t>Evite</a:t>
            </a:r>
          </a:p>
        </p:txBody>
      </p:sp>
      <p:sp>
        <p:nvSpPr>
          <p:cNvPr id="11" name="txt 11"/>
          <p:cNvSpPr txBox="1"/>
          <p:nvPr/>
        </p:nvSpPr>
        <p:spPr>
          <a:xfrm>
            <a:off x="6570000" y="2560000"/>
            <a:ext cx="4650000" cy="355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560"/>
              </a:spcAft>
            </a:pPr>
            <a:r>
              <a:rPr sz="133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330" b="0" i="0">
                <a:solidFill>
                  <a:srgbClr val="E8E8E8"/>
                </a:solidFill>
                <a:latin typeface="Lato"/>
              </a:rPr>
              <a:t>'Vibe coding': aceitar o que foi gerado sem ler</a:t>
            </a:r>
          </a:p>
          <a:p>
            <a:pPr marL="0" indent="0" algn="l">
              <a:spcAft>
                <a:spcPts val="560"/>
              </a:spcAft>
            </a:pPr>
            <a:r>
              <a:rPr sz="133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330" b="0" i="0">
                <a:solidFill>
                  <a:srgbClr val="E8E8E8"/>
                </a:solidFill>
                <a:latin typeface="Lato"/>
              </a:rPr>
              <a:t>Dar acesso total/autônomo sem sandbox e sem backup</a:t>
            </a:r>
          </a:p>
          <a:p>
            <a:pPr marL="0" indent="0" algn="l">
              <a:spcAft>
                <a:spcPts val="560"/>
              </a:spcAft>
            </a:pPr>
            <a:r>
              <a:rPr sz="133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330" b="0" i="0">
                <a:solidFill>
                  <a:srgbClr val="E8E8E8"/>
                </a:solidFill>
                <a:latin typeface="Lato"/>
              </a:rPr>
              <a:t>Colar segredos (tokens, .env) no prompt ou no contexto</a:t>
            </a:r>
          </a:p>
          <a:p>
            <a:pPr marL="0" indent="0" algn="l">
              <a:spcAft>
                <a:spcPts val="560"/>
              </a:spcAft>
            </a:pPr>
            <a:r>
              <a:rPr sz="133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330" b="0" i="0">
                <a:solidFill>
                  <a:srgbClr val="E8E8E8"/>
                </a:solidFill>
                <a:latin typeface="Lato"/>
              </a:rPr>
              <a:t>Confiar no 'está pronto' sem evidência (testes verdes)</a:t>
            </a:r>
          </a:p>
          <a:p>
            <a:pPr marL="0" indent="0" algn="l">
              <a:spcAft>
                <a:spcPts val="560"/>
              </a:spcAft>
            </a:pPr>
            <a:r>
              <a:rPr sz="133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330" b="0" i="0">
                <a:solidFill>
                  <a:srgbClr val="E8E8E8"/>
                </a:solidFill>
                <a:latin typeface="Lato"/>
              </a:rPr>
              <a:t>Instalar skills/plugins de terceiros sem revisar antes</a:t>
            </a:r>
          </a:p>
        </p:txBody>
      </p:sp>
      <p:sp>
        <p:nvSpPr>
          <p:cNvPr id="12" name="rule 12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13" name="txt 13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14" name="txt 14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07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FECHAMENTO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Próximos passos para o time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txt 6"/>
          <p:cNvSpPr txBox="1"/>
          <p:nvPr/>
        </p:nvSpPr>
        <p:spPr>
          <a:xfrm>
            <a:off x="700000" y="1820000"/>
            <a:ext cx="10900000" cy="45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Padronizar nossas skills de projeto no repo (test-runner, convenções, review)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Usar o superpowers como fluxo padrão para features de ponta a ponta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Definir política de segurança: sandbox para execuções autônomas + dados sensíveis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Formar o time: do 'prompt solto' para 'skills + verificação'</a:t>
            </a:r>
          </a:p>
          <a:p>
            <a:pPr marL="0" indent="0" algn="l">
              <a:spcBef>
                <a:spcPts val="200"/>
              </a:spcBef>
              <a:spcAft>
                <a:spcPts val="56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650" b="0" i="0">
                <a:solidFill>
                  <a:srgbClr val="E8E8E8"/>
                </a:solidFill>
                <a:latin typeface="Lato"/>
              </a:rPr>
              <a:t>Medir: tempo de ciclo, retrabalho e cobertura antes/depois</a:t>
            </a:r>
          </a:p>
        </p:txBody>
      </p:sp>
      <p:sp>
        <p:nvSpPr>
          <p:cNvPr id="7" name="rule 7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8" name="txt 8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9" name="txt 9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08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40">
                <a:solidFill>
                  <a:srgbClr val="C6FF3C"/>
                </a:solidFill>
                <a:latin typeface="DejaVu Sans Mono"/>
              </a:rPr>
              <a:t>OBRIGADO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Obrigado a todos pela atenção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card 6"/>
          <p:cNvSpPr/>
          <p:nvPr/>
        </p:nvSpPr>
        <p:spPr>
          <a:xfrm>
            <a:off x="685800" y="1760000"/>
            <a:ext cx="5230000" cy="3560000"/>
          </a:xfrm>
          <a:prstGeom prst="roundRect">
            <a:avLst/>
          </a:prstGeom>
          <a:solidFill>
            <a:srgbClr val="141517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7" name="txt 7"/>
          <p:cNvSpPr txBox="1"/>
          <p:nvPr/>
        </p:nvSpPr>
        <p:spPr>
          <a:xfrm>
            <a:off x="985800" y="1940000"/>
            <a:ext cx="465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650" b="1" i="0">
                <a:solidFill>
                  <a:srgbClr val="C6FF3C"/>
                </a:solidFill>
                <a:latin typeface="Lato"/>
              </a:rPr>
              <a:t>Repositórios dos frameworks</a:t>
            </a:r>
          </a:p>
        </p:txBody>
      </p:sp>
      <p:sp>
        <p:nvSpPr>
          <p:cNvPr id="8" name="txt 8"/>
          <p:cNvSpPr txBox="1"/>
          <p:nvPr/>
        </p:nvSpPr>
        <p:spPr>
          <a:xfrm>
            <a:off x="985800" y="2520000"/>
            <a:ext cx="4680000" cy="2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140"/>
              </a:spcBef>
              <a:spcAft>
                <a:spcPts val="60"/>
              </a:spcAft>
            </a:pPr>
            <a:r>
              <a:rPr sz="135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350" b="1" i="0">
                <a:solidFill>
                  <a:srgbClr val="E8E8E8"/>
                </a:solidFill>
                <a:latin typeface="Lato"/>
              </a:rPr>
              <a:t>superpowers</a:t>
            </a:r>
          </a:p>
          <a:p>
            <a:pPr marL="300000" indent="0" algn="l">
              <a:spcAft>
                <a:spcPts val="200"/>
              </a:spcAft>
            </a:pPr>
            <a:r>
              <a:rPr sz="1200" b="0" i="0">
                <a:solidFill>
                  <a:srgbClr val="C6FF3C"/>
                </a:solidFill>
                <a:latin typeface="DejaVu Sans Mono"/>
              </a:rPr>
              <a:t>github.com/obra/superpowers</a:t>
            </a:r>
          </a:p>
          <a:p>
            <a:pPr marL="0" indent="0" algn="l">
              <a:spcBef>
                <a:spcPts val="140"/>
              </a:spcBef>
              <a:spcAft>
                <a:spcPts val="60"/>
              </a:spcAft>
            </a:pPr>
            <a:r>
              <a:rPr sz="135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350" b="1" i="0">
                <a:solidFill>
                  <a:srgbClr val="E8E8E8"/>
                </a:solidFill>
                <a:latin typeface="Lato"/>
              </a:rPr>
              <a:t>superpowers  (obra / Jesse Vincent)</a:t>
            </a:r>
          </a:p>
          <a:p>
            <a:pPr marL="300000" indent="0" algn="l">
              <a:spcAft>
                <a:spcPts val="200"/>
              </a:spcAft>
            </a:pPr>
            <a:r>
              <a:rPr sz="1200" b="0" i="0">
                <a:solidFill>
                  <a:srgbClr val="C6FF3C"/>
                </a:solidFill>
                <a:latin typeface="DejaVu Sans Mono"/>
              </a:rPr>
              <a:t>github.com/obra/superpowers</a:t>
            </a:r>
          </a:p>
          <a:p>
            <a:pPr marL="0" indent="0" algn="l">
              <a:spcBef>
                <a:spcPts val="140"/>
              </a:spcBef>
              <a:spcAft>
                <a:spcPts val="60"/>
              </a:spcAft>
            </a:pPr>
            <a:r>
              <a:rPr sz="135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350" b="1" i="0">
                <a:solidFill>
                  <a:srgbClr val="E8E8E8"/>
                </a:solidFill>
                <a:latin typeface="Lato"/>
              </a:rPr>
              <a:t>ai-jail  (Fabio Akita)</a:t>
            </a:r>
          </a:p>
          <a:p>
            <a:pPr marL="300000" indent="0" algn="l">
              <a:spcAft>
                <a:spcPts val="200"/>
              </a:spcAft>
            </a:pPr>
            <a:r>
              <a:rPr sz="1200" b="0" i="0">
                <a:solidFill>
                  <a:srgbClr val="C6FF3C"/>
                </a:solidFill>
                <a:latin typeface="DejaVu Sans Mono"/>
              </a:rPr>
              <a:t>github.com/akitaonrails/ai-jail</a:t>
            </a:r>
          </a:p>
        </p:txBody>
      </p:sp>
      <p:sp>
        <p:nvSpPr>
          <p:cNvPr id="9" name="card 9"/>
          <p:cNvSpPr/>
          <p:nvPr/>
        </p:nvSpPr>
        <p:spPr>
          <a:xfrm>
            <a:off x="6270000" y="1760000"/>
            <a:ext cx="5230000" cy="3560000"/>
          </a:xfrm>
          <a:prstGeom prst="roundRect">
            <a:avLst/>
          </a:prstGeom>
          <a:solidFill>
            <a:srgbClr val="141517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10" name="txt 10"/>
          <p:cNvSpPr txBox="1"/>
          <p:nvPr/>
        </p:nvSpPr>
        <p:spPr>
          <a:xfrm>
            <a:off x="6570000" y="1940000"/>
            <a:ext cx="465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650" b="1" i="0">
                <a:solidFill>
                  <a:srgbClr val="F2C400"/>
                </a:solidFill>
                <a:latin typeface="Lato"/>
              </a:rPr>
              <a:t>Para ir além</a:t>
            </a:r>
          </a:p>
        </p:txBody>
      </p:sp>
      <p:sp>
        <p:nvSpPr>
          <p:cNvPr id="11" name="txt 11"/>
          <p:cNvSpPr txBox="1"/>
          <p:nvPr/>
        </p:nvSpPr>
        <p:spPr>
          <a:xfrm>
            <a:off x="6570000" y="2520000"/>
            <a:ext cx="4680000" cy="2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140"/>
              </a:spcBef>
              <a:spcAft>
                <a:spcPts val="60"/>
              </a:spcAft>
            </a:pPr>
            <a:r>
              <a:rPr sz="135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350" b="1" i="0">
                <a:solidFill>
                  <a:srgbClr val="E8E8E8"/>
                </a:solidFill>
                <a:latin typeface="Lato"/>
              </a:rPr>
              <a:t>Claude Code — documentação oficial</a:t>
            </a:r>
          </a:p>
          <a:p>
            <a:pPr marL="300000" indent="0" algn="l">
              <a:spcAft>
                <a:spcPts val="200"/>
              </a:spcAft>
            </a:pPr>
            <a:r>
              <a:rPr sz="1200" b="0" i="0">
                <a:solidFill>
                  <a:srgbClr val="C6FF3C"/>
                </a:solidFill>
                <a:latin typeface="DejaVu Sans Mono"/>
              </a:rPr>
              <a:t>docs.claude.com/en/docs/claude-code</a:t>
            </a:r>
          </a:p>
          <a:p>
            <a:pPr marL="0" indent="0" algn="l">
              <a:spcBef>
                <a:spcPts val="140"/>
              </a:spcBef>
              <a:spcAft>
                <a:spcPts val="60"/>
              </a:spcAft>
            </a:pPr>
            <a:r>
              <a:rPr sz="135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350" b="1" i="0">
                <a:solidFill>
                  <a:srgbClr val="E8E8E8"/>
                </a:solidFill>
                <a:latin typeface="Lato"/>
              </a:rPr>
              <a:t>superpowers — post do autor</a:t>
            </a:r>
          </a:p>
          <a:p>
            <a:pPr marL="300000" indent="0" algn="l">
              <a:spcAft>
                <a:spcPts val="200"/>
              </a:spcAft>
            </a:pPr>
            <a:r>
              <a:rPr sz="1200" b="0" i="0">
                <a:solidFill>
                  <a:srgbClr val="C6FF3C"/>
                </a:solidFill>
                <a:latin typeface="DejaVu Sans Mono"/>
              </a:rPr>
              <a:t>blog.fsck.com/2025/10/09/superpowers</a:t>
            </a:r>
          </a:p>
          <a:p>
            <a:pPr marL="0" indent="0" algn="l">
              <a:spcBef>
                <a:spcPts val="140"/>
              </a:spcBef>
              <a:spcAft>
                <a:spcPts val="60"/>
              </a:spcAft>
            </a:pPr>
            <a:r>
              <a:rPr sz="135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350" b="1" i="0">
                <a:solidFill>
                  <a:srgbClr val="E8E8E8"/>
                </a:solidFill>
                <a:latin typeface="Lato"/>
              </a:rPr>
              <a:t>ai-jail — artigo do Akita</a:t>
            </a:r>
          </a:p>
          <a:p>
            <a:pPr marL="300000" indent="0" algn="l">
              <a:spcAft>
                <a:spcPts val="200"/>
              </a:spcAft>
            </a:pPr>
            <a:r>
              <a:rPr sz="1200" b="0" i="0">
                <a:solidFill>
                  <a:srgbClr val="C6FF3C"/>
                </a:solidFill>
                <a:latin typeface="DejaVu Sans Mono"/>
              </a:rPr>
              <a:t>akitaonrails.com</a:t>
            </a:r>
          </a:p>
        </p:txBody>
      </p:sp>
      <p:sp>
        <p:nvSpPr>
          <p:cNvPr id="12" name="rule 12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13" name="txt 13"/>
          <p:cNvSpPr txBox="1"/>
          <p:nvPr/>
        </p:nvSpPr>
        <p:spPr>
          <a:xfrm>
            <a:off x="660000" y="6600000"/>
            <a:ext cx="1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DejaVu Sans Mono"/>
              </a:rPr>
              <a:t>Rafael Dias · Squad Backoffice &amp; Importação · iClinic / Afya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SKILLS · EXEMPLO REAL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Trecho real: a skill 'brainstorming' do superpowers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code 6"/>
          <p:cNvSpPr/>
          <p:nvPr/>
        </p:nvSpPr>
        <p:spPr>
          <a:xfrm>
            <a:off x="685800" y="1800000"/>
            <a:ext cx="10835640" cy="3970000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tIns="228600" rIns="274320" bIns="45720"/>
          <a:lstStyle/>
          <a:p>
            <a:pPr marL="0" indent="0" algn="ctr">
              <a:spcAft>
                <a:spcPts val="180"/>
              </a:spcAft>
            </a:pPr>
            <a:r>
              <a:rPr sz="1300" b="0" i="0">
                <a:solidFill>
                  <a:srgbClr val="6A737D"/>
                </a:solidFill>
                <a:latin typeface="DejaVu Sans Mono"/>
              </a:rPr>
              <a:t># skills/brainstorming/SKILL.md — superpowers (trecho real)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D6DEE7"/>
                </a:solidFill>
                <a:latin typeface="DejaVu Sans Mono"/>
              </a:rPr>
              <a:t> 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D6DEE7"/>
                </a:solidFill>
                <a:latin typeface="DejaVu Sans Mono"/>
              </a:rPr>
              <a:t>---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D6DEE7"/>
                </a:solidFill>
                <a:latin typeface="DejaVu Sans Mono"/>
              </a:rPr>
              <a:t>name: brainstorming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C6FF3C"/>
                </a:solidFill>
                <a:latin typeface="DejaVu Sans Mono"/>
              </a:rPr>
              <a:t>description: "You MUST use this before any creative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C6FF3C"/>
                </a:solidFill>
                <a:latin typeface="DejaVu Sans Mono"/>
              </a:rPr>
              <a:t>  work - creating features, building components,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C6FF3C"/>
                </a:solidFill>
                <a:latin typeface="DejaVu Sans Mono"/>
              </a:rPr>
              <a:t>  adding functionality, or modifying behavior.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D6DEE7"/>
                </a:solidFill>
                <a:latin typeface="DejaVu Sans Mono"/>
              </a:rPr>
              <a:t>  Explores user intent, requirements and design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D6DEE7"/>
                </a:solidFill>
                <a:latin typeface="DejaVu Sans Mono"/>
              </a:rPr>
              <a:t>  before implementation."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D6DEE7"/>
                </a:solidFill>
                <a:latin typeface="DejaVu Sans Mono"/>
              </a:rPr>
              <a:t>---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D6DEE7"/>
                </a:solidFill>
                <a:latin typeface="DejaVu Sans Mono"/>
              </a:rPr>
              <a:t> 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F2C400"/>
                </a:solidFill>
                <a:latin typeface="DejaVu Sans Mono"/>
              </a:rPr>
              <a:t>&lt;HARD-GATE&gt;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F2C400"/>
                </a:solidFill>
                <a:latin typeface="DejaVu Sans Mono"/>
              </a:rPr>
              <a:t>Do NOT write any code until you have presented a design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F2C400"/>
                </a:solidFill>
                <a:latin typeface="DejaVu Sans Mono"/>
              </a:rPr>
              <a:t>and the user has approved it. EVERY project.</a:t>
            </a:r>
          </a:p>
          <a:p>
            <a:pPr marL="0" indent="0" algn="l">
              <a:spcAft>
                <a:spcPts val="180"/>
              </a:spcAft>
            </a:pPr>
            <a:r>
              <a:rPr sz="1300" b="0" i="0">
                <a:solidFill>
                  <a:srgbClr val="F2C400"/>
                </a:solidFill>
                <a:latin typeface="DejaVu Sans Mono"/>
              </a:rPr>
              <a:t>&lt;/HARD-GATE&gt;</a:t>
            </a:r>
          </a:p>
        </p:txBody>
      </p:sp>
      <p:sp>
        <p:nvSpPr>
          <p:cNvPr id="7" name="txt 7"/>
          <p:cNvSpPr txBox="1"/>
          <p:nvPr/>
        </p:nvSpPr>
        <p:spPr>
          <a:xfrm>
            <a:off x="713232" y="5900000"/>
            <a:ext cx="10835640" cy="5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300" b="0" i="1">
                <a:solidFill>
                  <a:srgbClr val="9A9A9A"/>
                </a:solidFill>
                <a:latin typeface="Lato"/>
              </a:rPr>
              <a:t>A 'description' é o QUANDO (o gatilho que faz o agente escolher a skill); o corpo é o COMO. O HARD-GATE proíbe partir pro código antes de um design aprovado.</a:t>
            </a:r>
          </a:p>
        </p:txBody>
      </p:sp>
      <p:sp>
        <p:nvSpPr>
          <p:cNvPr id="8" name="rule 8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9" name="txt 9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10" name="txt 10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10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SKILLS · A SUA SKILL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Skill própria: como instala e usa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card 6"/>
          <p:cNvSpPr/>
          <p:nvPr/>
        </p:nvSpPr>
        <p:spPr>
          <a:xfrm>
            <a:off x="685800" y="1800000"/>
            <a:ext cx="5230000" cy="4470000"/>
          </a:xfrm>
          <a:prstGeom prst="roundRect">
            <a:avLst/>
          </a:prstGeom>
          <a:solidFill>
            <a:srgbClr val="141517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7" name="txt 7"/>
          <p:cNvSpPr txBox="1"/>
          <p:nvPr/>
        </p:nvSpPr>
        <p:spPr>
          <a:xfrm>
            <a:off x="985800" y="1990000"/>
            <a:ext cx="465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850" b="1" i="0">
                <a:solidFill>
                  <a:srgbClr val="C6FF3C"/>
                </a:solidFill>
                <a:latin typeface="Lato"/>
              </a:rPr>
              <a:t>Instalar (é só colocar no lugar)</a:t>
            </a:r>
          </a:p>
        </p:txBody>
      </p:sp>
      <p:sp>
        <p:nvSpPr>
          <p:cNvPr id="8" name="txt 8"/>
          <p:cNvSpPr txBox="1"/>
          <p:nvPr/>
        </p:nvSpPr>
        <p:spPr>
          <a:xfrm>
            <a:off x="985800" y="2560000"/>
            <a:ext cx="4650000" cy="355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Escreva a pasta com o SKILL.md (slide anterior)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Só sua: ~/.claude/skills/minha-skill/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Do time: .claude/skills/ — versionada no repo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Não tem 'build': o agente descobre a skill sozinho</a:t>
            </a:r>
          </a:p>
        </p:txBody>
      </p:sp>
      <p:sp>
        <p:nvSpPr>
          <p:cNvPr id="9" name="card 9"/>
          <p:cNvSpPr/>
          <p:nvPr/>
        </p:nvSpPr>
        <p:spPr>
          <a:xfrm>
            <a:off x="6270000" y="1800000"/>
            <a:ext cx="5230000" cy="4470000"/>
          </a:xfrm>
          <a:prstGeom prst="roundRect">
            <a:avLst/>
          </a:prstGeom>
          <a:solidFill>
            <a:srgbClr val="141517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10" name="txt 10"/>
          <p:cNvSpPr txBox="1"/>
          <p:nvPr/>
        </p:nvSpPr>
        <p:spPr>
          <a:xfrm>
            <a:off x="6570000" y="1990000"/>
            <a:ext cx="465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850" b="1" i="0">
                <a:solidFill>
                  <a:srgbClr val="F2C400"/>
                </a:solidFill>
                <a:latin typeface="Lato"/>
              </a:rPr>
              <a:t>Usar (como ela entra em ação)</a:t>
            </a:r>
          </a:p>
        </p:txBody>
      </p:sp>
      <p:sp>
        <p:nvSpPr>
          <p:cNvPr id="11" name="txt 11"/>
          <p:cNvSpPr txBox="1"/>
          <p:nvPr/>
        </p:nvSpPr>
        <p:spPr>
          <a:xfrm>
            <a:off x="6570000" y="2560000"/>
            <a:ext cx="4650000" cy="355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Automático: o agente lê a 'description' e aciona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Manual: você digita /minha-skill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Reabra a sessão para o agente carregar a skill nova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Pra valer pro time: versione no repo (.claude/skills)</a:t>
            </a:r>
          </a:p>
        </p:txBody>
      </p:sp>
      <p:sp>
        <p:nvSpPr>
          <p:cNvPr id="12" name="rule 12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13" name="txt 13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14" name="txt 14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15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CLAUDE CODE · BENEFÍCIOS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Por que vale a pena: o ganho real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hero 6"/>
          <p:cNvSpPr/>
          <p:nvPr/>
        </p:nvSpPr>
        <p:spPr>
          <a:xfrm>
            <a:off x="685800" y="1800000"/>
            <a:ext cx="10835640" cy="900000"/>
          </a:xfrm>
          <a:prstGeom prst="roundRect">
            <a:avLst/>
          </a:prstGeom>
          <a:solidFill>
            <a:srgbClr val="12160B"/>
          </a:solidFill>
          <a:ln w="12700">
            <a:solidFill>
              <a:srgbClr val="C6F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 marL="0" indent="0" algn="ctr">
              <a:spcAft>
                <a:spcPts val="0"/>
              </a:spcAft>
            </a:pPr>
            <a:r>
              <a:rPr sz="2300" b="1" i="0">
                <a:solidFill>
                  <a:srgbClr val="C6FF3C"/>
                </a:solidFill>
                <a:latin typeface="Lato"/>
              </a:rPr>
              <a:t>O que levava MESES pode sair em DIAS ou SEMANAS</a:t>
            </a:r>
          </a:p>
        </p:txBody>
      </p:sp>
      <p:sp>
        <p:nvSpPr>
          <p:cNvPr id="7" name="txt 7"/>
          <p:cNvSpPr txBox="1"/>
          <p:nvPr/>
        </p:nvSpPr>
        <p:spPr>
          <a:xfrm>
            <a:off x="700000" y="2960000"/>
            <a:ext cx="10900000" cy="34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160"/>
              </a:spcBef>
              <a:spcAft>
                <a:spcPts val="560"/>
              </a:spcAft>
            </a:pPr>
            <a:r>
              <a:rPr sz="15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50" b="0" i="0">
                <a:solidFill>
                  <a:srgbClr val="E8E8E8"/>
                </a:solidFill>
                <a:latin typeface="Lato"/>
              </a:rPr>
              <a:t>Tarefas repetitivas (CRUD, testes, migrações) saem em horas, não em sprints</a:t>
            </a:r>
          </a:p>
          <a:p>
            <a:pPr marL="0" indent="0" algn="l">
              <a:spcBef>
                <a:spcPts val="160"/>
              </a:spcBef>
              <a:spcAft>
                <a:spcPts val="560"/>
              </a:spcAft>
            </a:pPr>
            <a:r>
              <a:rPr sz="15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50" b="0" i="0">
                <a:solidFill>
                  <a:srgbClr val="E8E8E8"/>
                </a:solidFill>
                <a:latin typeface="Lato"/>
              </a:rPr>
              <a:t>Explorar uma base grande: o agente lê e mapeia em minutos</a:t>
            </a:r>
          </a:p>
          <a:p>
            <a:pPr marL="0" indent="0" algn="l">
              <a:spcBef>
                <a:spcPts val="160"/>
              </a:spcBef>
              <a:spcAft>
                <a:spcPts val="560"/>
              </a:spcAft>
            </a:pPr>
            <a:r>
              <a:rPr sz="15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50" b="0" i="0">
                <a:solidFill>
                  <a:srgbClr val="E8E8E8"/>
                </a:solidFill>
                <a:latin typeface="Lato"/>
              </a:rPr>
              <a:t>Menos espera por review: a revisão adversarial roda antes do humano</a:t>
            </a:r>
          </a:p>
          <a:p>
            <a:pPr marL="0" indent="0" algn="l">
              <a:spcBef>
                <a:spcPts val="160"/>
              </a:spcBef>
              <a:spcAft>
                <a:spcPts val="560"/>
              </a:spcAft>
            </a:pPr>
            <a:r>
              <a:rPr sz="15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50" b="0" i="0">
                <a:solidFill>
                  <a:srgbClr val="E8E8E8"/>
                </a:solidFill>
                <a:latin typeface="Lato"/>
              </a:rPr>
              <a:t>Protótipo → validação no mesmo dia; erra barato e cedo</a:t>
            </a:r>
          </a:p>
          <a:p>
            <a:pPr marL="0" indent="0" algn="l">
              <a:spcBef>
                <a:spcPts val="160"/>
              </a:spcBef>
              <a:spcAft>
                <a:spcPts val="560"/>
              </a:spcAft>
            </a:pPr>
            <a:r>
              <a:rPr sz="15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50" b="0" i="0">
                <a:solidFill>
                  <a:srgbClr val="E8E8E8"/>
                </a:solidFill>
                <a:latin typeface="Lato"/>
              </a:rPr>
              <a:t>O sênior foca em arquitetura e decisão; o braçal é da máquina</a:t>
            </a:r>
          </a:p>
          <a:p>
            <a:pPr marL="0" indent="0" algn="l">
              <a:spcBef>
                <a:spcPts val="160"/>
              </a:spcBef>
              <a:spcAft>
                <a:spcPts val="560"/>
              </a:spcAft>
            </a:pPr>
            <a:r>
              <a:rPr sz="1550" b="1" i="0">
                <a:solidFill>
                  <a:srgbClr val="C6FF3C"/>
                </a:solidFill>
                <a:latin typeface="Lato"/>
              </a:rPr>
              <a:t>▸  </a:t>
            </a:r>
            <a:r>
              <a:rPr sz="1550" b="0" i="0">
                <a:solidFill>
                  <a:srgbClr val="E8E8E8"/>
                </a:solidFill>
                <a:latin typeface="Lato"/>
              </a:rPr>
              <a:t>O padrão do time vira skill: qualidade consistente, menos retrabalho</a:t>
            </a:r>
          </a:p>
        </p:txBody>
      </p:sp>
      <p:sp>
        <p:nvSpPr>
          <p:cNvPr id="8" name="rule 8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9" name="txt 9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10" name="txt 10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19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ECOSSISTEMA · SUPERPOWERS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superpowers: como instala e usa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card 6"/>
          <p:cNvSpPr/>
          <p:nvPr/>
        </p:nvSpPr>
        <p:spPr>
          <a:xfrm>
            <a:off x="685800" y="1800000"/>
            <a:ext cx="5230000" cy="4470000"/>
          </a:xfrm>
          <a:prstGeom prst="roundRect">
            <a:avLst/>
          </a:prstGeom>
          <a:solidFill>
            <a:srgbClr val="141517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7" name="txt 7"/>
          <p:cNvSpPr txBox="1"/>
          <p:nvPr/>
        </p:nvSpPr>
        <p:spPr>
          <a:xfrm>
            <a:off x="985800" y="1990000"/>
            <a:ext cx="465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850" b="1" i="0">
                <a:solidFill>
                  <a:srgbClr val="C6FF3C"/>
                </a:solidFill>
                <a:latin typeface="Lato"/>
              </a:rPr>
              <a:t>Instalar (2 comandos)</a:t>
            </a:r>
          </a:p>
        </p:txBody>
      </p:sp>
      <p:sp>
        <p:nvSpPr>
          <p:cNvPr id="8" name="txt 8"/>
          <p:cNvSpPr txBox="1"/>
          <p:nvPr/>
        </p:nvSpPr>
        <p:spPr>
          <a:xfrm>
            <a:off x="985800" y="2560000"/>
            <a:ext cx="4650000" cy="355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/plugin marketplace add obra/superpowers-marketplace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/plugin install superpowers@superpowers-marketplace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Confirme com /plugin · aplique com /reload-plugins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Também está na marketplace oficial da Anthropic</a:t>
            </a:r>
          </a:p>
        </p:txBody>
      </p:sp>
      <p:sp>
        <p:nvSpPr>
          <p:cNvPr id="9" name="card 9"/>
          <p:cNvSpPr/>
          <p:nvPr/>
        </p:nvSpPr>
        <p:spPr>
          <a:xfrm>
            <a:off x="6270000" y="1800000"/>
            <a:ext cx="5230000" cy="4470000"/>
          </a:xfrm>
          <a:prstGeom prst="roundRect">
            <a:avLst/>
          </a:prstGeom>
          <a:solidFill>
            <a:srgbClr val="141517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10" name="txt 10"/>
          <p:cNvSpPr txBox="1"/>
          <p:nvPr/>
        </p:nvSpPr>
        <p:spPr>
          <a:xfrm>
            <a:off x="6570000" y="1990000"/>
            <a:ext cx="465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850" b="1" i="0">
                <a:solidFill>
                  <a:srgbClr val="F2C400"/>
                </a:solidFill>
                <a:latin typeface="Lato"/>
              </a:rPr>
              <a:t>Usar (ativa sozinho)</a:t>
            </a:r>
          </a:p>
        </p:txBody>
      </p:sp>
      <p:sp>
        <p:nvSpPr>
          <p:cNvPr id="11" name="txt 11"/>
          <p:cNvSpPr txBox="1"/>
          <p:nvPr/>
        </p:nvSpPr>
        <p:spPr>
          <a:xfrm>
            <a:off x="6570000" y="2560000"/>
            <a:ext cx="4650000" cy="355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Não tem comando 'start': as skills disparam pela tarefa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Descreva a ideia → a skill de brainstorm entra primeiro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Ciclo: brainstorm → plano → TDD → review → finish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É a mesma base do superpowers</a:t>
            </a:r>
          </a:p>
        </p:txBody>
      </p:sp>
      <p:sp>
        <p:nvSpPr>
          <p:cNvPr id="12" name="rule 12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13" name="txt 13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14" name="txt 14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25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3" name="txt 3"/>
          <p:cNvSpPr txBox="1"/>
          <p:nvPr/>
        </p:nvSpPr>
        <p:spPr>
          <a:xfrm>
            <a:off x="640080" y="470000"/>
            <a:ext cx="106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250" b="1" i="0" spc="200">
                <a:solidFill>
                  <a:srgbClr val="C6FF3C"/>
                </a:solidFill>
                <a:latin typeface="DejaVu Sans Mono"/>
              </a:rPr>
              <a:t>ECOSSISTEMA · AI-JAIL</a:t>
            </a:r>
          </a:p>
        </p:txBody>
      </p:sp>
      <p:sp>
        <p:nvSpPr>
          <p:cNvPr id="4" name="txt 4"/>
          <p:cNvSpPr txBox="1"/>
          <p:nvPr/>
        </p:nvSpPr>
        <p:spPr>
          <a:xfrm>
            <a:off x="640080" y="760000"/>
            <a:ext cx="109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3100" b="1" i="0">
                <a:solidFill>
                  <a:srgbClr val="F2F2F2"/>
                </a:solidFill>
                <a:latin typeface="Lato"/>
              </a:rPr>
              <a:t>ai-jail: como instala e usa</a:t>
            </a:r>
          </a:p>
        </p:txBody>
      </p:sp>
      <p:sp>
        <p:nvSpPr>
          <p:cNvPr id="5" name="ul 5"/>
          <p:cNvSpPr/>
          <p:nvPr/>
        </p:nvSpPr>
        <p:spPr>
          <a:xfrm>
            <a:off x="658368" y="1481328"/>
            <a:ext cx="620000" cy="43000"/>
          </a:xfrm>
          <a:prstGeom prst="rect">
            <a:avLst/>
          </a:prstGeom>
          <a:solidFill>
            <a:srgbClr val="C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6" name="card 6"/>
          <p:cNvSpPr/>
          <p:nvPr/>
        </p:nvSpPr>
        <p:spPr>
          <a:xfrm>
            <a:off x="685800" y="1800000"/>
            <a:ext cx="5230000" cy="4470000"/>
          </a:xfrm>
          <a:prstGeom prst="roundRect">
            <a:avLst/>
          </a:prstGeom>
          <a:solidFill>
            <a:srgbClr val="141517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7" name="txt 7"/>
          <p:cNvSpPr txBox="1"/>
          <p:nvPr/>
        </p:nvSpPr>
        <p:spPr>
          <a:xfrm>
            <a:off x="985800" y="1990000"/>
            <a:ext cx="465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850" b="1" i="0">
                <a:solidFill>
                  <a:srgbClr val="C6FF3C"/>
                </a:solidFill>
                <a:latin typeface="Lato"/>
              </a:rPr>
              <a:t>Instalar (uma vez, no terminal)</a:t>
            </a:r>
          </a:p>
        </p:txBody>
      </p:sp>
      <p:sp>
        <p:nvSpPr>
          <p:cNvPr id="8" name="txt 8"/>
          <p:cNvSpPr txBox="1"/>
          <p:nvPr/>
        </p:nvSpPr>
        <p:spPr>
          <a:xfrm>
            <a:off x="985800" y="2560000"/>
            <a:ext cx="4650000" cy="355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É um programinha de terminal — instala na máquina como qualquer ferramenta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Jeito mais fácil (Mac/Linux): brew install akitaonrails/tap/ai-jail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'brew' = Homebrew, o instalador de apps de terminal (a 'loja' do terminal)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C6FF3C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Sem brew? Outras formas em: github.com/akitaonrails/ai-jail</a:t>
            </a:r>
          </a:p>
        </p:txBody>
      </p:sp>
      <p:sp>
        <p:nvSpPr>
          <p:cNvPr id="9" name="card 9"/>
          <p:cNvSpPr/>
          <p:nvPr/>
        </p:nvSpPr>
        <p:spPr>
          <a:xfrm>
            <a:off x="6270000" y="1800000"/>
            <a:ext cx="5230000" cy="4470000"/>
          </a:xfrm>
          <a:prstGeom prst="roundRect">
            <a:avLst/>
          </a:prstGeom>
          <a:solidFill>
            <a:srgbClr val="141517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10" name="txt 10"/>
          <p:cNvSpPr txBox="1"/>
          <p:nvPr/>
        </p:nvSpPr>
        <p:spPr>
          <a:xfrm>
            <a:off x="6570000" y="1990000"/>
            <a:ext cx="465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1850" b="1" i="0">
                <a:solidFill>
                  <a:srgbClr val="F2C400"/>
                </a:solidFill>
                <a:latin typeface="Lato"/>
              </a:rPr>
              <a:t>Usar (roda o agente preso)</a:t>
            </a:r>
          </a:p>
        </p:txBody>
      </p:sp>
      <p:sp>
        <p:nvSpPr>
          <p:cNvPr id="11" name="txt 11"/>
          <p:cNvSpPr txBox="1"/>
          <p:nvPr/>
        </p:nvSpPr>
        <p:spPr>
          <a:xfrm>
            <a:off x="6570000" y="2560000"/>
            <a:ext cx="4650000" cy="355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Na pasta do projeto: ai-jail claude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1ª vez cria um .ai-jail (dá pra commitar pro time)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--mask .env esconde segredos · --lockdown corta a rede</a:t>
            </a:r>
          </a:p>
          <a:p>
            <a:pPr marL="0" indent="0" algn="l">
              <a:spcAft>
                <a:spcPts val="780"/>
              </a:spcAft>
            </a:pPr>
            <a:r>
              <a:rPr sz="1500" b="1" i="0">
                <a:solidFill>
                  <a:srgbClr val="F2C400"/>
                </a:solidFill>
                <a:latin typeface="Lato"/>
              </a:rPr>
              <a:t>▪  </a:t>
            </a:r>
            <a:r>
              <a:rPr sz="1500" b="0" i="0">
                <a:solidFill>
                  <a:srgbClr val="E8E8E8"/>
                </a:solidFill>
                <a:latin typeface="Lato"/>
              </a:rPr>
              <a:t>--dry-run: NÃO roda o agente — só mostra a 'cerca' que seria montada (as pastas que ele veria) pra você conferir antes</a:t>
            </a:r>
          </a:p>
        </p:txBody>
      </p:sp>
      <p:sp>
        <p:nvSpPr>
          <p:cNvPr id="12" name="rule 12"/>
          <p:cNvSpPr/>
          <p:nvPr/>
        </p:nvSpPr>
        <p:spPr>
          <a:xfrm>
            <a:off x="0" y="6486000"/>
            <a:ext cx="12191695" cy="127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45720" rIns="91440" bIns="45720"/>
          <a:lstStyle/>
          <a:p>
            <a:pPr/>
          </a:p>
        </p:txBody>
      </p:sp>
      <p:sp>
        <p:nvSpPr>
          <p:cNvPr id="13" name="txt 13"/>
          <p:cNvSpPr txBox="1"/>
          <p:nvPr/>
        </p:nvSpPr>
        <p:spPr>
          <a:xfrm>
            <a:off x="457200" y="6600000"/>
            <a:ext cx="90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Aft>
                <a:spcPts val="0"/>
              </a:spcAft>
            </a:pPr>
            <a:r>
              <a:rPr sz="900" b="0" i="0">
                <a:solidFill>
                  <a:srgbClr val="6A6A6A"/>
                </a:solidFill>
                <a:latin typeface="DejaVu Sans Mono"/>
              </a:rPr>
              <a:t>Agentes de IA no Desenvolvimento · Rafael Dias · iClinic/Afya</a:t>
            </a:r>
          </a:p>
        </p:txBody>
      </p:sp>
      <p:sp>
        <p:nvSpPr>
          <p:cNvPr id="14" name="txt 14"/>
          <p:cNvSpPr txBox="1"/>
          <p:nvPr/>
        </p:nvSpPr>
        <p:spPr>
          <a:xfrm>
            <a:off x="11000000" y="6600000"/>
            <a:ext cx="9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spcAft>
                <a:spcPts val="0"/>
              </a:spcAft>
            </a:pPr>
            <a:r>
              <a:rPr sz="900" b="0" i="0">
                <a:solidFill>
                  <a:srgbClr val="C6FF3C"/>
                </a:solidFill>
                <a:latin typeface="DejaVu Sans Mono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